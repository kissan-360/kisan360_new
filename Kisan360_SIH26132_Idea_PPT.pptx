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9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latin typeface="Arial"/>
              </a:rPr>
              <a:t>Problem Statement ID : </a:t>
            </a:r>
            <a:r>
              <a:rPr sz="1500">
                <a:latin typeface="Arial"/>
              </a:rPr>
              <a:t>26132</a:t>
            </a:r>
            <a:endParaRPr lang="en-US" dirty="0"/>
          </a:p>
          <a:p>
            <a:pPr>
              <a:spcAft>
                <a:spcPts val="400"/>
              </a:spcAft>
            </a:pPr>
            <a:r>
              <a:rPr sz="1500" b="1">
                <a:latin typeface="Arial"/>
              </a:rPr>
              <a:t>Problem Statement Title : </a:t>
            </a:r>
            <a:r>
              <a:rPr sz="1500">
                <a:latin typeface="Arial"/>
              </a:rPr>
              <a:t>Strengthening market linkages and price discovery for farmers</a:t>
            </a:r>
          </a:p>
          <a:p>
            <a:pPr>
              <a:spcAft>
                <a:spcPts val="400"/>
              </a:spcAft>
            </a:pPr>
            <a:r>
              <a:rPr sz="1500" b="1">
                <a:latin typeface="Arial"/>
              </a:rPr>
              <a:t>Theme : </a:t>
            </a:r>
            <a:r>
              <a:rPr sz="1500">
                <a:latin typeface="Arial"/>
              </a:rPr>
              <a:t>Agriculture, FoodTech &amp; Rural Development</a:t>
            </a:r>
          </a:p>
          <a:p>
            <a:pPr>
              <a:spcAft>
                <a:spcPts val="400"/>
              </a:spcAft>
            </a:pPr>
            <a:r>
              <a:rPr sz="1500" b="1">
                <a:latin typeface="Arial"/>
              </a:rPr>
              <a:t>PS Category : </a:t>
            </a:r>
            <a:r>
              <a:rPr sz="1500">
                <a:latin typeface="Arial"/>
              </a:rPr>
              <a:t>Software</a:t>
            </a:r>
          </a:p>
          <a:p>
            <a:pPr>
              <a:spcAft>
                <a:spcPts val="400"/>
              </a:spcAft>
            </a:pPr>
            <a:r>
              <a:rPr sz="1500" b="1">
                <a:latin typeface="Arial"/>
              </a:rPr>
              <a:t>Team ID : </a:t>
            </a:r>
            <a:r>
              <a:rPr sz="1500">
                <a:latin typeface="Arial"/>
              </a:rPr>
              <a:t>TBD (update from portal)</a:t>
            </a:r>
          </a:p>
          <a:p>
            <a:pPr>
              <a:spcAft>
                <a:spcPts val="400"/>
              </a:spcAft>
            </a:pPr>
            <a:r>
              <a:rPr sz="1500" b="1">
                <a:latin typeface="Arial"/>
              </a:rPr>
              <a:t>Team Name : </a:t>
            </a:r>
            <a:r>
              <a:rPr sz="1500">
                <a:latin typeface="Arial"/>
              </a:rPr>
              <a:t>Kisan360  |  CMR University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044916"/>
              </p:ext>
            </p:extLst>
          </p:nvPr>
        </p:nvGraphicFramePr>
        <p:xfrm>
          <a:off x="365760" y="4480560"/>
          <a:ext cx="57607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Dept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M/F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Rian Hussain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Nishant Sutariya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Keerthan M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Musalareddy Chaitna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Koneti Praneeth Kumar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Muruga Santhosh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Arial"/>
                        </a:rPr>
                        <a:t>Prof Bhagya (Mentor)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b="0" dirty="0">
                          <a:solidFill>
                            <a:srgbClr val="262626"/>
                          </a:solidFill>
                          <a:latin typeface="Arial"/>
                        </a:rPr>
                        <a:t>CSE</a:t>
                      </a:r>
                      <a:endParaRPr sz="1100" b="0" dirty="0">
                        <a:solidFill>
                          <a:srgbClr val="262626"/>
                        </a:solidFill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b="0" dirty="0">
                          <a:solidFill>
                            <a:srgbClr val="262626"/>
                          </a:solidFill>
                          <a:latin typeface="Arial"/>
                        </a:rPr>
                        <a:t>F</a:t>
                      </a:r>
                      <a:endParaRPr sz="1100" b="0" dirty="0">
                        <a:solidFill>
                          <a:srgbClr val="262626"/>
                        </a:solidFill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00981" y="183807"/>
            <a:ext cx="7944464" cy="1143000"/>
          </a:xfrm>
        </p:spPr>
        <p:txBody>
          <a:bodyPr/>
          <a:lstStyle/>
          <a:p>
            <a:r>
              <a:rPr dirty="0"/>
              <a:t>Kisan360: net-realization engine + market linkage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53845" y="1720645"/>
            <a:ext cx="10884310" cy="4139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dirty="0">
                <a:solidFill>
                  <a:srgbClr val="1F3864"/>
                </a:solidFill>
                <a:latin typeface="Arial"/>
              </a:rPr>
              <a:t>Idea in one line</a:t>
            </a:r>
            <a:endParaRPr lang="en-US" sz="16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lvl="1">
              <a:spcAft>
                <a:spcPts val="600"/>
              </a:spcAft>
            </a:pPr>
            <a:r>
              <a:rPr sz="1400" dirty="0">
                <a:solidFill>
                  <a:srgbClr val="262626"/>
                </a:solidFill>
                <a:latin typeface="Arial"/>
              </a:rPr>
              <a:t>Kisan360 shows a farmer where a lot will actually realize the most — not just the highest headline mandi price — then connects that decision to buyers, offers and payment.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1F3864"/>
                </a:solidFill>
                <a:latin typeface="Arial"/>
              </a:rPr>
              <a:t>The problem (PS 26132)</a:t>
            </a:r>
          </a:p>
          <a:p>
            <a:pPr lvl="1">
              <a:spcAft>
                <a:spcPts val="600"/>
              </a:spcAft>
            </a:pPr>
            <a:r>
              <a:rPr sz="1400" dirty="0">
                <a:solidFill>
                  <a:srgbClr val="262626"/>
                </a:solidFill>
                <a:latin typeface="Arial"/>
              </a:rPr>
              <a:t>Farmers see headline prices but not take-home: transport, loading and fees differ per mandi — the highest price can leave less money.</a:t>
            </a:r>
          </a:p>
          <a:p>
            <a:pPr lvl="1">
              <a:spcAft>
                <a:spcPts val="600"/>
              </a:spcAft>
            </a:pPr>
            <a:r>
              <a:rPr sz="1400" dirty="0">
                <a:solidFill>
                  <a:srgbClr val="262626"/>
                </a:solidFill>
                <a:latin typeface="Arial"/>
              </a:rPr>
              <a:t>Price, demand, quality specs, logistics, buyer credibility are fragmented; ~86% of holdings are small &amp; marginal (&lt;2 ha, Agri Census) and distress-sell at harvest with weak bargaining power.</a:t>
            </a:r>
          </a:p>
          <a:p>
            <a:pPr lvl="1">
              <a:spcAft>
                <a:spcPts val="600"/>
              </a:spcAft>
            </a:pPr>
            <a:r>
              <a:rPr sz="1400" dirty="0">
                <a:solidFill>
                  <a:srgbClr val="262626"/>
                </a:solidFill>
                <a:latin typeface="Arial"/>
              </a:rPr>
              <a:t>Buyers cannot aggregate consistent volumes or verify quality; FPO pooling stays informal.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1F3864"/>
                </a:solidFill>
                <a:latin typeface="Arial"/>
              </a:rPr>
              <a:t>Proposed solution</a:t>
            </a:r>
          </a:p>
          <a:p>
            <a:pPr lvl="1">
              <a:spcAft>
                <a:spcPts val="600"/>
              </a:spcAft>
            </a:pPr>
            <a:r>
              <a:rPr sz="1400" dirty="0">
                <a:solidFill>
                  <a:srgbClr val="262626"/>
                </a:solidFill>
                <a:latin typeface="Arial"/>
              </a:rPr>
              <a:t>Deterministic net-realization ranking over live AGMARKNET + 250-row snapshot, with a Why? evidence drawer for every number.</a:t>
            </a:r>
          </a:p>
          <a:p>
            <a:pPr lvl="1">
              <a:spcAft>
                <a:spcPts val="600"/>
              </a:spcAft>
            </a:pPr>
            <a:r>
              <a:rPr sz="1400" dirty="0">
                <a:solidFill>
                  <a:srgbClr val="262626"/>
                </a:solidFill>
                <a:latin typeface="Arial"/>
              </a:rPr>
              <a:t>Quantity what-if (40 q bulk tier), per-mandi buyer coverage, explainable buyer matching, lot → offer → escrow → receipt in one chain.</a:t>
            </a:r>
          </a:p>
          <a:p>
            <a:pPr lvl="1">
              <a:spcAft>
                <a:spcPts val="600"/>
              </a:spcAft>
            </a:pPr>
            <a:r>
              <a:rPr sz="1400" dirty="0">
                <a:solidFill>
                  <a:srgbClr val="262626"/>
                </a:solidFill>
                <a:latin typeface="Arial"/>
              </a:rPr>
              <a:t>FPO pooling with uplift math; AGMARK grading + trained MobileNetV2 freshness model; honesty labels on all simulated/data-stale states</a:t>
            </a:r>
            <a:r>
              <a:rPr sz="1600" dirty="0">
                <a:solidFill>
                  <a:srgbClr val="262626"/>
                </a:solidFill>
                <a:latin typeface="Arial"/>
              </a:rPr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07222" y="539078"/>
            <a:ext cx="1587517" cy="57366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Kisan360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9FB785-E571-45D3-0C74-6F80A9FD1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282"/>
            <a:ext cx="1405859" cy="14058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29773" y="140516"/>
            <a:ext cx="10972800" cy="1143000"/>
          </a:xfrm>
        </p:spPr>
        <p:txBody>
          <a:bodyPr/>
          <a:lstStyle/>
          <a:p>
            <a: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599" y="1649377"/>
            <a:ext cx="10382865" cy="377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2200" b="1" dirty="0">
                <a:solidFill>
                  <a:srgbClr val="1F3864"/>
                </a:solidFill>
                <a:latin typeface="Arial"/>
              </a:rPr>
              <a:t>Tech stack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262626"/>
                </a:solidFill>
                <a:latin typeface="Arial"/>
              </a:rPr>
              <a:t>Frontend: React + Vite + Tailwind; TF.js (MobileNetV2 freshness grader, in-browser).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262626"/>
                </a:solidFill>
                <a:latin typeface="Arial"/>
              </a:rPr>
              <a:t>Backend: Node.js/Express — 22 routes (market, lots, buyers, offers, payments, FPO, grading…); Python </a:t>
            </a:r>
            <a:r>
              <a:rPr sz="1600" dirty="0" err="1">
                <a:solidFill>
                  <a:srgbClr val="262626"/>
                </a:solidFill>
                <a:latin typeface="Arial"/>
              </a:rPr>
              <a:t>FastAPI</a:t>
            </a:r>
            <a:r>
              <a:rPr sz="1600" dirty="0">
                <a:solidFill>
                  <a:srgbClr val="262626"/>
                </a:solidFill>
                <a:latin typeface="Arial"/>
              </a:rPr>
              <a:t> calculators: net-realization (:8002), disease CNN (:8000), advisory RAG (:8001).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262626"/>
                </a:solidFill>
                <a:latin typeface="Arial"/>
              </a:rPr>
              <a:t>Data: AGMARKNET (data.gov.in) live pull + stamped snapshot cache; MongoDB Atlas with in-memory fallback; </a:t>
            </a:r>
            <a:r>
              <a:rPr sz="1600" dirty="0" err="1">
                <a:solidFill>
                  <a:srgbClr val="262626"/>
                </a:solidFill>
                <a:latin typeface="Arial"/>
              </a:rPr>
              <a:t>Groq</a:t>
            </a:r>
            <a:r>
              <a:rPr sz="1600" dirty="0">
                <a:solidFill>
                  <a:srgbClr val="262626"/>
                </a:solidFill>
                <a:latin typeface="Arial"/>
              </a:rPr>
              <a:t> LLM explanation-only (never generates numbers) + template fallback.</a:t>
            </a:r>
          </a:p>
          <a:p>
            <a:pPr>
              <a:spcAft>
                <a:spcPts val="600"/>
              </a:spcAft>
            </a:pPr>
            <a:r>
              <a:rPr sz="2200" b="1" dirty="0">
                <a:solidFill>
                  <a:srgbClr val="1F3864"/>
                </a:solidFill>
                <a:latin typeface="Arial"/>
              </a:rPr>
              <a:t>Process / data flow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262626"/>
                </a:solidFill>
                <a:latin typeface="Arial"/>
              </a:rPr>
              <a:t>AGMARKNET → snapshot cache → net-realization engine → ranked mandis → pathways (sell/store/pool) → lot → matched buyers → offer → escrow timeline → decision receipt.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262626"/>
                </a:solidFill>
                <a:latin typeface="Arial"/>
              </a:rPr>
              <a:t>Side rails: photo → AGMARK grade certificate → lot quality; FPO members → pooled lot → pooled offer.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262626"/>
                </a:solidFill>
                <a:latin typeface="Arial"/>
              </a:rPr>
              <a:t>Quality bar: 575 automated tests green (546 backend + 29 calculator); one-command boot; every figure carries source + timestamp + assumption tags.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Kisan360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403349" y="1582340"/>
            <a:ext cx="9385300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sz="2200" b="1" dirty="0">
                <a:solidFill>
                  <a:srgbClr val="1F3864"/>
                </a:solidFill>
                <a:latin typeface="Arial"/>
              </a:rPr>
              <a:t>Feasibility — prototype already runs (TRL 6)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262626"/>
                </a:solidFill>
                <a:latin typeface="Arial"/>
              </a:rPr>
              <a:t>Full journey clickable today: dashboard → net ranking → lot → offer → buyer accept → payment → receipt; FPO pool and grading live.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262626"/>
                </a:solidFill>
                <a:latin typeface="Arial"/>
              </a:rPr>
              <a:t>Deployable per-district as a decision layer over AGMARKNET/</a:t>
            </a:r>
            <a:r>
              <a:rPr sz="1600" dirty="0" err="1">
                <a:solidFill>
                  <a:srgbClr val="262626"/>
                </a:solidFill>
                <a:latin typeface="Arial"/>
              </a:rPr>
              <a:t>eNAM</a:t>
            </a:r>
            <a:r>
              <a:rPr sz="1600" dirty="0">
                <a:solidFill>
                  <a:srgbClr val="262626"/>
                </a:solidFill>
                <a:latin typeface="Arial"/>
              </a:rPr>
              <a:t> — no existing system needs replacement; engine is crop-generic (data, not code).</a:t>
            </a:r>
          </a:p>
          <a:p>
            <a:pPr>
              <a:spcAft>
                <a:spcPts val="600"/>
              </a:spcAft>
            </a:pPr>
            <a:r>
              <a:rPr sz="2200" b="1" dirty="0">
                <a:solidFill>
                  <a:srgbClr val="1F3864"/>
                </a:solidFill>
                <a:latin typeface="Arial"/>
              </a:rPr>
              <a:t>Risks + mitigations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262626"/>
                </a:solidFill>
                <a:latin typeface="Arial"/>
              </a:rPr>
              <a:t>AGMARKNET down → stamped snapshot serves, UI says CACHED. Atlas unreachable → memory DB + reseed; nothing silently breaks.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262626"/>
                </a:solidFill>
                <a:latin typeface="Arial"/>
              </a:rPr>
              <a:t>Transport rates are assumptions → shown on screen, tagged, stress-tested (transport +50%, price −5%) with break-even rates.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262626"/>
                </a:solidFill>
                <a:latin typeface="Arial"/>
              </a:rPr>
              <a:t>Buyers/payments simulated → 4-tier trust labels + SIMULATED escrow banners; disease cold start → boot warmup step.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Kisan360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557550" y="1582340"/>
            <a:ext cx="9385300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sz="2200" b="1" dirty="0">
                <a:solidFill>
                  <a:srgbClr val="1F3864"/>
                </a:solidFill>
                <a:latin typeface="Arial"/>
              </a:rPr>
              <a:t>Beneficiaries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262626"/>
                </a:solidFill>
                <a:latin typeface="Arial"/>
              </a:rPr>
              <a:t>Small &amp; marginal farmers (better sale choice per lot); FPOs (bulk tier + buyer minimums unlocked); buyers (aggregated, graded lots); Government (decision layer on public data).</a:t>
            </a:r>
          </a:p>
          <a:p>
            <a:pPr>
              <a:spcAft>
                <a:spcPts val="600"/>
              </a:spcAft>
            </a:pPr>
            <a:r>
              <a:rPr sz="2200" b="1" dirty="0">
                <a:solidFill>
                  <a:srgbClr val="1F3864"/>
                </a:solidFill>
                <a:latin typeface="Arial"/>
              </a:rPr>
              <a:t>Benefits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262626"/>
                </a:solidFill>
                <a:latin typeface="Arial"/>
              </a:rPr>
              <a:t>Economic: engine-estimated decision difference per lot (e.g. +₹4,321 on a 10 q Nagpur lot, live values — never an income guarantee).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262626"/>
                </a:solidFill>
                <a:latin typeface="Arial"/>
              </a:rPr>
              <a:t>Social: bargaining power from data — offer benchmark vs reference; grievance workflow with resolution states.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262626"/>
                </a:solidFill>
                <a:latin typeface="Arial"/>
              </a:rPr>
              <a:t>Post-harvest: sale-window + storage-breakeven guidance cuts distress sales; transparent receipts build credit history.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262626"/>
                </a:solidFill>
                <a:latin typeface="Arial"/>
              </a:rPr>
              <a:t>Scalable: new crop/district/mandi/buyer = data entry; daily price refresh; honest metrics declared before deployment, never fabricated.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Kisan360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519711" y="1654721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2200" b="1" dirty="0">
                <a:solidFill>
                  <a:srgbClr val="1F3864"/>
                </a:solidFill>
                <a:latin typeface="Arial"/>
              </a:rPr>
              <a:t>Data &amp; standards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262626"/>
                </a:solidFill>
                <a:latin typeface="Arial"/>
              </a:rPr>
              <a:t>AGMARKNET via data.gov.in API — live mandi price source behind the engine.</a:t>
            </a:r>
          </a:p>
          <a:p>
            <a:pPr lvl="1">
              <a:spcAft>
                <a:spcPts val="600"/>
              </a:spcAft>
            </a:pPr>
            <a:r>
              <a:rPr sz="1600" dirty="0" err="1">
                <a:solidFill>
                  <a:srgbClr val="262626"/>
                </a:solidFill>
                <a:latin typeface="Arial"/>
              </a:rPr>
              <a:t>eNAM</a:t>
            </a:r>
            <a:r>
              <a:rPr sz="1600" dirty="0">
                <a:solidFill>
                  <a:srgbClr val="262626"/>
                </a:solidFill>
                <a:latin typeface="Arial"/>
              </a:rPr>
              <a:t> (National Agriculture Market) — digital trading-channel integration reference.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262626"/>
                </a:solidFill>
                <a:latin typeface="Arial"/>
              </a:rPr>
              <a:t>AGMARK standards, Directorate of Marketing &amp; Inspection (DMI) — grade thresholds used by the grading rule engine (7 crops × 3 grades).</a:t>
            </a:r>
          </a:p>
          <a:p>
            <a:pPr>
              <a:spcAft>
                <a:spcPts val="600"/>
              </a:spcAft>
            </a:pPr>
            <a:r>
              <a:rPr sz="2200" b="1" dirty="0">
                <a:solidFill>
                  <a:srgbClr val="1F3864"/>
                </a:solidFill>
                <a:latin typeface="Arial"/>
              </a:rPr>
              <a:t>Models &amp; research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262626"/>
                </a:solidFill>
                <a:latin typeface="Arial"/>
              </a:rPr>
              <a:t>MobileNetV2 (Sandler et al., 2018) — backbone of the shipped freshness grader (99.2% fresh/rotten, 6,738-image test split) and the 38-class plant-disease model.</a:t>
            </a:r>
          </a:p>
          <a:p>
            <a:pPr lvl="1">
              <a:spcAft>
                <a:spcPts val="600"/>
              </a:spcAft>
            </a:pPr>
            <a:r>
              <a:rPr sz="1600" dirty="0">
                <a:solidFill>
                  <a:srgbClr val="262626"/>
                </a:solidFill>
                <a:latin typeface="Arial"/>
              </a:rPr>
              <a:t>Agriculture Census 2015-16 — 86.2% of holdings are small &amp; marginal (&lt;2 ha): the core beneficiary group.</a:t>
            </a:r>
          </a:p>
          <a:p>
            <a:pPr lvl="1">
              <a:spcAft>
                <a:spcPts val="600"/>
              </a:spcAft>
            </a:pPr>
            <a:r>
              <a:rPr sz="1600" dirty="0" err="1">
                <a:solidFill>
                  <a:srgbClr val="262626"/>
                </a:solidFill>
                <a:latin typeface="Arial"/>
              </a:rPr>
              <a:t>Groq</a:t>
            </a:r>
            <a:r>
              <a:rPr sz="1600" dirty="0">
                <a:solidFill>
                  <a:srgbClr val="262626"/>
                </a:solidFill>
                <a:latin typeface="Arial"/>
              </a:rPr>
              <a:t> llama-3.3-70b-versatile — explanation-only LLM; deterministic template fallback keeps the product LLM-independent.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Kisan360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7509</TotalTime>
  <Words>911</Words>
  <Application>Microsoft Office PowerPoint</Application>
  <PresentationFormat>Widescreen</PresentationFormat>
  <Paragraphs>96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ＭＳ Ｐゴシック</vt:lpstr>
      <vt:lpstr>Arial</vt:lpstr>
      <vt:lpstr>Calibri</vt:lpstr>
      <vt:lpstr>Garamond</vt:lpstr>
      <vt:lpstr>TradeGothic</vt:lpstr>
      <vt:lpstr>Office Theme</vt:lpstr>
      <vt:lpstr>SMART INDIA HACKATHON 2026</vt:lpstr>
      <vt:lpstr>Kisan360: net-realization engine + market linkage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Rian Hussain</cp:lastModifiedBy>
  <cp:revision>149</cp:revision>
  <dcterms:created xsi:type="dcterms:W3CDTF">2013-12-12T18:46:50Z</dcterms:created>
  <dcterms:modified xsi:type="dcterms:W3CDTF">2026-09-12T07:16:53Z</dcterms:modified>
  <cp:category/>
</cp:coreProperties>
</file>