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Hussain" userId="0caf0c85c763a54f" providerId="LiveId" clId="{8250069A-2DCE-4DE8-9693-3915BBE1E914}"/>
    <pc:docChg chg="undo custSel modSld">
      <pc:chgData name="Rian Hussain" userId="0caf0c85c763a54f" providerId="LiveId" clId="{8250069A-2DCE-4DE8-9693-3915BBE1E914}" dt="2026-09-13T11:23:32.230" v="2" actId="1076"/>
      <pc:docMkLst>
        <pc:docMk/>
      </pc:docMkLst>
      <pc:sldChg chg="modSp mod">
        <pc:chgData name="Rian Hussain" userId="0caf0c85c763a54f" providerId="LiveId" clId="{8250069A-2DCE-4DE8-9693-3915BBE1E914}" dt="2026-09-13T11:23:32.230" v="2" actId="1076"/>
        <pc:sldMkLst>
          <pc:docMk/>
          <pc:sldMk cId="0" sldId="281"/>
        </pc:sldMkLst>
        <pc:spChg chg="mod">
          <ac:chgData name="Rian Hussain" userId="0caf0c85c763a54f" providerId="LiveId" clId="{8250069A-2DCE-4DE8-9693-3915BBE1E914}" dt="2026-09-13T11:23:32.230" v="2" actId="1076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Rian Hussain" userId="0caf0c85c763a54f" providerId="LiveId" clId="{8250069A-2DCE-4DE8-9693-3915BBE1E914}" dt="2026-09-13T11:22:53.744" v="1" actId="20577"/>
        <pc:sldMkLst>
          <pc:docMk/>
          <pc:sldMk cId="0" sldId="290"/>
        </pc:sldMkLst>
        <pc:spChg chg="mod">
          <ac:chgData name="Rian Hussain" userId="0caf0c85c763a54f" providerId="LiveId" clId="{8250069A-2DCE-4DE8-9693-3915BBE1E914}" dt="2026-09-13T11:22:53.744" v="1" actId="20577"/>
          <ac:spMkLst>
            <pc:docMk/>
            <pc:sldMk cId="0" sldId="290"/>
            <ac:spMk id="1742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kisan360-calc.onrender.com/health" TargetMode="External"/><Relationship Id="rId6" Type="http://schemas.openxmlformats.org/officeDocument/2006/relationships/hyperlink" Target="https://kisan360-api.onrender.com/health" TargetMode="External"/><Relationship Id="rId7" Type="http://schemas.openxmlformats.org/officeDocument/2006/relationships/hyperlink" Target="https://kisan360-web.onrender.com" TargetMode="External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5760" y="171498"/>
            <a:ext cx="7993656" cy="127901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ID : </a:t>
            </a:r>
            <a:r>
              <a:rPr sz="1500" dirty="0">
                <a:latin typeface="Arial"/>
              </a:rPr>
              <a:t>26132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Title : </a:t>
            </a:r>
            <a:r>
              <a:rPr sz="1500" dirty="0">
                <a:latin typeface="Arial"/>
              </a:rPr>
              <a:t>Strengthening market linkages and price discovery for farmers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Theme : </a:t>
            </a:r>
            <a:r>
              <a:rPr sz="1500" dirty="0">
                <a:latin typeface="Arial"/>
              </a:rPr>
              <a:t>Agriculture, </a:t>
            </a:r>
            <a:r>
              <a:rPr sz="1500" dirty="0" err="1">
                <a:latin typeface="Arial"/>
              </a:rPr>
              <a:t>FoodTech</a:t>
            </a:r>
            <a:r>
              <a:rPr sz="1500" dirty="0">
                <a:latin typeface="Arial"/>
              </a:rPr>
              <a:t> &amp; Rural Development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PS Category : </a:t>
            </a:r>
            <a:r>
              <a:rPr sz="1500" dirty="0">
                <a:latin typeface="Arial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ID : </a:t>
            </a:r>
            <a:r>
              <a:rPr sz="1500" dirty="0">
                <a:latin typeface="Arial"/>
              </a:rPr>
              <a:t>CMRU027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Name : </a:t>
            </a:r>
            <a:r>
              <a:rPr sz="1500" dirty="0">
                <a:latin typeface="Arial"/>
              </a:rPr>
              <a:t>Kisan360  |  CMR University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1413"/>
              </p:ext>
            </p:extLst>
          </p:nvPr>
        </p:nvGraphicFramePr>
        <p:xfrm>
          <a:off x="365760" y="44805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M/F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Rian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Nishant Sutariya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Keerthan M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Musalareddy Chaitna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Koneti Praneeth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Muruga Santhosh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Prof Bhagya (Mentor)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9" name="Picture 38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09728"/>
            <a:ext cx="868680" cy="8686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35040" y="59893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</a:rPr>
              <a:t>LIVE DEMO — scan or open in order (services wake on first visit):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262626"/>
                </a:solidFill>
              </a:rPr>
              <a:t>1) </a:t>
            </a:r>
            <a:r>
              <a:rPr sz="850">
                <a:solidFill>
                  <a:srgbClr val="262626"/>
                </a:solidFill>
                <a:hlinkClick r:id="rId5"/>
              </a:rPr>
              <a:t>https://kisan360-calc.onrender.com/health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262626"/>
                </a:solidFill>
              </a:rPr>
              <a:t>2) </a:t>
            </a:r>
            <a:r>
              <a:rPr sz="850">
                <a:solidFill>
                  <a:srgbClr val="262626"/>
                </a:solidFill>
                <a:hlinkClick r:id="rId6"/>
              </a:rPr>
              <a:t>https://kisan360-api.onrender.com/health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262626"/>
                </a:solidFill>
              </a:rPr>
              <a:t>3) </a:t>
            </a:r>
            <a:r>
              <a:rPr sz="850">
                <a:solidFill>
                  <a:srgbClr val="262626"/>
                </a:solidFill>
                <a:hlinkClick r:id="rId7"/>
              </a:rPr>
              <a:t>https://kisan360-web.onrender.com</a:t>
            </a:r>
          </a:p>
        </p:txBody>
      </p:sp>
      <p:pic>
        <p:nvPicPr>
          <p:cNvPr id="41" name="Picture 40" descr="qr-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6016752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064" y="297498"/>
            <a:ext cx="10972800" cy="1143000"/>
          </a:xfrm>
        </p:spPr>
        <p:txBody>
          <a:bodyPr/>
          <a:lstStyle/>
          <a:p>
            <a:r>
              <a:rPr dirty="0"/>
              <a:t>Kisan360: net-realization engine + market linkage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74320" y="1143000"/>
            <a:ext cx="66751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Idea in one line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Kisan360 shows where a lot will actually realize the most — not just the highest headline mandi price — then connects that decision to buyers, offers and payment.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The problem (PS 26132)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Headline price minus transport/loading/fees differs per mandi: the highest price can leave less money.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~86% of holdings are small &amp; marginal (&lt;2 ha, Agri Census) — they distress-sell at harvest with weak bargaining power.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Why it wins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Deterministic net ranking + Why? evidence drawer; quantity what-if; buyer coverage; lot → offer → escrow → receipt; FPO pooling; AGMARK grading with trained vision model.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213182"/>
            <a:ext cx="655816" cy="655816"/>
          </a:xfrm>
          <a:prstGeom prst="rect">
            <a:avLst/>
          </a:prstGeom>
        </p:spPr>
      </p:pic>
      <p:pic>
        <p:nvPicPr>
          <p:cNvPr id="15364" name="Picture 15363" descr="shot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5365" name="TextBox 15364"/>
          <p:cNvSpPr txBox="1"/>
          <p:nvPr/>
        </p:nvSpPr>
        <p:spPr>
          <a:xfrm>
            <a:off x="7223760" y="3977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Live product: crop · district · quantity → one question — “where should I sell?”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8580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AGMARKNET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2167128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2459736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Cache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941064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33672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Net Engine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715000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6007608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Pathways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7488936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7781544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Trade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9262872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955548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41578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Grade AI
AGMARK + vision</a:t>
            </a:r>
          </a:p>
        </p:txBody>
      </p:sp>
      <p:cxnSp>
        <p:nvCxnSpPr>
          <p:cNvPr id="17424" name="Connector 17423"/>
          <p:cNvCxnSpPr/>
          <p:nvPr/>
        </p:nvCxnSpPr>
        <p:spPr>
          <a:xfrm flipV="1">
            <a:off x="8193024" y="1965960"/>
            <a:ext cx="329184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933602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FPO Pool
40 q bulk</a:t>
            </a:r>
          </a:p>
        </p:txBody>
      </p:sp>
      <p:cxnSp>
        <p:nvCxnSpPr>
          <p:cNvPr id="17426" name="Connector 17425"/>
          <p:cNvCxnSpPr/>
          <p:nvPr/>
        </p:nvCxnSpPr>
        <p:spPr>
          <a:xfrm flipH="1" flipV="1">
            <a:off x="8522208" y="1965960"/>
            <a:ext cx="1591056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Data flow: every figure carries source + timestamp + assumption tags; simulated parts are labeled.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74320" y="342900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Tech stack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React + Vite + Tailwind + TF.js (in-browser freshness grader).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Node/Express API — 22 routes; Python </a:t>
            </a:r>
            <a:r>
              <a:rPr sz="1200" b="0" dirty="0" err="1">
                <a:solidFill>
                  <a:srgbClr val="262626"/>
                </a:solidFill>
                <a:latin typeface="Arial"/>
              </a:rPr>
              <a:t>FastAPI</a:t>
            </a:r>
            <a:r>
              <a:rPr sz="1200" b="0" dirty="0">
                <a:solidFill>
                  <a:srgbClr val="262626"/>
                </a:solidFill>
                <a:latin typeface="Arial"/>
              </a:rPr>
              <a:t>: net-realization (:8002, deployed); disease + advisory degrade gracefully.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AGMARKNET live + stamped snapshot; MongoDB Atlas with memory fallback; </a:t>
            </a:r>
            <a:r>
              <a:rPr sz="1200" b="0" dirty="0" err="1">
                <a:solidFill>
                  <a:srgbClr val="262626"/>
                </a:solidFill>
                <a:latin typeface="Arial"/>
              </a:rPr>
              <a:t>Groq</a:t>
            </a:r>
            <a:r>
              <a:rPr sz="1200" b="0" dirty="0">
                <a:solidFill>
                  <a:srgbClr val="262626"/>
                </a:solidFill>
                <a:latin typeface="Arial"/>
              </a:rPr>
              <a:t> LLM explains only — never computes.</a:t>
            </a:r>
          </a:p>
          <a:p>
            <a:pPr lvl="1">
              <a:spcAft>
                <a:spcPts val="50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</a:rPr>
              <a:t>Quality bar: 577 tests green; one-command boot; TRL 6 prototype.</a:t>
            </a:r>
          </a:p>
        </p:txBody>
      </p:sp>
      <p:pic>
        <p:nvPicPr>
          <p:cNvPr id="17429" name="Picture 17428" descr="shot_net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383280"/>
            <a:ext cx="4480560" cy="2520315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30" name="TextBox 17429"/>
          <p:cNvSpPr txBox="1"/>
          <p:nvPr/>
        </p:nvSpPr>
        <p:spPr>
          <a:xfrm>
            <a:off x="6720840" y="59253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Live engine: APMC Vita nets ₹40,432 on the 10 q lot — ranked by take-home, evidence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4320" y="2482329"/>
            <a:ext cx="6675120" cy="259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Feasibility — prototype runs today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Full journey clickable: dashboard → ranking → lot → offer → buyer accept → payment → receipt; deployable per-district over AGMARKNET/</a:t>
            </a:r>
            <a:r>
              <a:rPr sz="1300" b="0" dirty="0" err="1">
                <a:solidFill>
                  <a:srgbClr val="262626"/>
                </a:solidFill>
                <a:latin typeface="Arial"/>
              </a:rPr>
              <a:t>eNAM</a:t>
            </a:r>
            <a:r>
              <a:rPr sz="1300" b="0" dirty="0">
                <a:solidFill>
                  <a:srgbClr val="262626"/>
                </a:solidFill>
                <a:latin typeface="Arial"/>
              </a:rPr>
              <a:t>, nothing to replace.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1F3864"/>
                </a:solidFill>
                <a:latin typeface="Arial"/>
              </a:rPr>
              <a:t>Risks + mitigations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AGMARKNET down → stamped snapshot, UI says CACHED. Atlas unreachable → memory DB + reseed.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Cost assumptions → shown on screen, stress-tested, break-even rates published.</a:t>
            </a:r>
          </a:p>
          <a:p>
            <a:pPr lvl="1">
              <a:spcAft>
                <a:spcPts val="5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</a:rPr>
              <a:t>Simulated buyers/payments → 4-tier trust labels + SIMULATED banners everywhere.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pic>
        <p:nvPicPr>
          <p:cNvPr id="17412" name="Picture 17411" descr="shot_t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13" name="TextBox 17412"/>
          <p:cNvSpPr txBox="1"/>
          <p:nvPr/>
        </p:nvSpPr>
        <p:spPr>
          <a:xfrm>
            <a:off x="7223760" y="3977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Decision tracker (INFORM → SELL) + lots → matched buyers → offers → escrow — one chain.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900" b="1">
                <a:solidFill>
                  <a:srgbClr val="1F3864"/>
                </a:solidFill>
                <a:latin typeface="Arial"/>
              </a:rPr>
              <a:t>Beneficiaries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Small &amp; marginal farmers (better sale choice per lot); FPOs (bulk tier + buyer minimums unlocked); buyers (aggregated, graded lots); Government (decision layer on public data).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1F3864"/>
                </a:solidFill>
                <a:latin typeface="Arial"/>
              </a:rPr>
              <a:t>Benefits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Economic: engine-estimated decision difference per lot (live values on screen — never an income guarantee).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Social: bargaining power from data — offer benchmark vs reference; grievance workflow with resolution states.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Post-harvest: sale-window + storage-breakeven guidance cuts distress sales; transparent receipts build credit history.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Scalable: new crop/district/mandi/buyer = data entry; daily refresh; metrics declared before deployment, never fabricated.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900" b="1">
                <a:solidFill>
                  <a:srgbClr val="1F3864"/>
                </a:solidFill>
                <a:latin typeface="Arial"/>
              </a:rPr>
              <a:t>Data &amp;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AGMARKNET via data.gov.in API — live mandi price source behind the engine.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eNAM (National Agriculture Market) — digital trading-channel integration reference.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AGMARK standards, Directorate of Marketing &amp; Inspection (DMI) — grade thresholds in the rule engine (7 crops × 3 grades).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1F3864"/>
                </a:solidFill>
                <a:latin typeface="Arial"/>
              </a:rPr>
              <a:t>Models &amp; research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MobileNetV2 (Sandler et al., 2018) — backbone of the shipped freshness grader (99.2% fresh/rotten, 6,738-image split) and the 38-class disease model.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Agriculture Census 2015-16 — 86.2% holdings small &amp; marginal (&lt;2 ha): the core beneficiary group.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Groq llama-3.3-70b-versatile — explanation-only LLM with deterministic template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7521</TotalTime>
  <Words>753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TradeGothic</vt:lpstr>
      <vt:lpstr>Wingdings</vt:lpstr>
      <vt:lpstr>Office Theme</vt:lpstr>
      <vt:lpstr>SMART INDIA HACKATHON 2026</vt:lpstr>
      <vt:lpstr>Kisan360: net-realization engine + market linkage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Rian Hussain</cp:lastModifiedBy>
  <cp:revision>149</cp:revision>
  <dcterms:created xsi:type="dcterms:W3CDTF">2013-12-12T18:46:50Z</dcterms:created>
  <dcterms:modified xsi:type="dcterms:W3CDTF">2026-09-13T11:23:42Z</dcterms:modified>
  <cp:category/>
</cp:coreProperties>
</file>