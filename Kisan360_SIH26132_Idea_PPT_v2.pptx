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latin typeface="Arial"/>
              </a:rPr>
              <a:t>Problem Statement ID : </a:t>
            </a:r>
            <a:r>
              <a:rPr sz="1500">
                <a:latin typeface="Arial"/>
              </a:rPr>
              <a:t>26132</a:t>
            </a:r>
            <a:endParaRPr lang="en-US" dirty="0"/>
          </a:p>
          <a:p>
            <a:pPr>
              <a:spcAft>
                <a:spcPts val="400"/>
              </a:spcAft>
            </a:pPr>
            <a:r>
              <a:rPr sz="1500" b="1">
                <a:latin typeface="Arial"/>
              </a:rPr>
              <a:t>Problem Statement Title : </a:t>
            </a:r>
            <a:r>
              <a:rPr sz="1500">
                <a:latin typeface="Arial"/>
              </a:rPr>
              <a:t>Strengthening market linkages and price discovery for farmers</a:t>
            </a:r>
          </a:p>
          <a:p>
            <a:pPr>
              <a:spcAft>
                <a:spcPts val="400"/>
              </a:spcAft>
            </a:pPr>
            <a:r>
              <a:rPr sz="1500" b="1">
                <a:latin typeface="Arial"/>
              </a:rPr>
              <a:t>Theme : </a:t>
            </a:r>
            <a:r>
              <a:rPr sz="1500">
                <a:latin typeface="Arial"/>
              </a:rPr>
              <a:t>Agriculture, FoodTech &amp; Rural Development</a:t>
            </a:r>
          </a:p>
          <a:p>
            <a:pPr>
              <a:spcAft>
                <a:spcPts val="400"/>
              </a:spcAft>
            </a:pPr>
            <a:r>
              <a:rPr sz="1500" b="1">
                <a:latin typeface="Arial"/>
              </a:rPr>
              <a:t>PS Category : </a:t>
            </a:r>
            <a:r>
              <a:rPr sz="1500">
                <a:latin typeface="Arial"/>
              </a:rPr>
              <a:t>Software</a:t>
            </a:r>
          </a:p>
          <a:p>
            <a:pPr>
              <a:spcAft>
                <a:spcPts val="400"/>
              </a:spcAft>
            </a:pPr>
            <a:r>
              <a:rPr sz="1500" b="1">
                <a:latin typeface="Arial"/>
              </a:rPr>
              <a:t>Team ID : </a:t>
            </a:r>
            <a:r>
              <a:rPr sz="1500">
                <a:latin typeface="Arial"/>
              </a:rPr>
              <a:t>TBD (update from portal)</a:t>
            </a:r>
          </a:p>
          <a:p>
            <a:pPr>
              <a:spcAft>
                <a:spcPts val="400"/>
              </a:spcAft>
            </a:pPr>
            <a:r>
              <a:rPr sz="1500" b="1">
                <a:latin typeface="Arial"/>
              </a:rPr>
              <a:t>Team Name : </a:t>
            </a:r>
            <a:r>
              <a:rPr sz="1500">
                <a:latin typeface="Arial"/>
              </a:rPr>
              <a:t>Kisan360  |  CMR University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365760" y="4480560"/>
          <a:ext cx="57607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371600"/>
                <a:gridCol w="1280160"/>
              </a:tblGrid>
              <a:tr h="26289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Name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Dept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M/F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Rian Hussain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CSE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M</a:t>
                      </a:r>
                    </a:p>
                  </a:txBody>
                  <a:tcPr/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Nishant Sutariya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CSE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M</a:t>
                      </a:r>
                    </a:p>
                  </a:txBody>
                  <a:tcPr/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Keerthan M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CSE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M</a:t>
                      </a:r>
                    </a:p>
                  </a:txBody>
                  <a:tcPr/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Musalareddy Chaitna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CSE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F</a:t>
                      </a:r>
                    </a:p>
                  </a:txBody>
                  <a:tcPr/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Koneti Praneeth Kumar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CSE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M</a:t>
                      </a:r>
                    </a:p>
                  </a:txBody>
                  <a:tcPr/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Muruga Santhosh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CSE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M</a:t>
                      </a:r>
                    </a:p>
                  </a:txBody>
                  <a:tcPr/>
                </a:tc>
              </a:tr>
              <a:tr h="26289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Prof Bhagya (Mentor)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62626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39" name="Picture 38" descr="kisan360-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109728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r>
              <a:t>IDEA TITLE — Kisan360: net-realization engine + market linkage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274320" y="1143000"/>
            <a:ext cx="6675120" cy="4937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spcAft>
                <a:spcPts val="500"/>
              </a:spcAft>
              <a:buFont typeface="Wingdings" panose="05000000000000000000" pitchFamily="2" charset="2"/>
              <a:buChar char="v"/>
            </a:pPr>
            <a:r>
              <a:rPr sz="1900" b="1">
                <a:solidFill>
                  <a:srgbClr val="1F3864"/>
                </a:solidFill>
                <a:latin typeface="Arial"/>
              </a:rPr>
              <a:t>Idea in one line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262626"/>
                </a:solidFill>
                <a:latin typeface="Arial"/>
              </a:rPr>
              <a:t>Kisan360 shows where a lot will actually realize the most — not just the highest headline mandi price — then connects that decision to buyers, offers and payment.</a:t>
            </a:r>
          </a:p>
          <a:p>
            <a:pPr>
              <a:spcAft>
                <a:spcPts val="500"/>
              </a:spcAft>
            </a:pPr>
            <a:r>
              <a:rPr sz="1900" b="1">
                <a:solidFill>
                  <a:srgbClr val="1F3864"/>
                </a:solidFill>
                <a:latin typeface="Arial"/>
              </a:rPr>
              <a:t>The problem (PS 26132)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262626"/>
                </a:solidFill>
                <a:latin typeface="Arial"/>
              </a:rPr>
              <a:t>Headline price minus transport/loading/fees differs per mandi: the highest price can leave less money.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262626"/>
                </a:solidFill>
                <a:latin typeface="Arial"/>
              </a:rPr>
              <a:t>~86% of holdings are small &amp; marginal (&lt;2 ha, Agri Census) — they distress-sell at harvest with weak bargaining power.</a:t>
            </a:r>
          </a:p>
          <a:p>
            <a:pPr>
              <a:spcAft>
                <a:spcPts val="500"/>
              </a:spcAft>
            </a:pPr>
            <a:r>
              <a:rPr sz="1900" b="1">
                <a:solidFill>
                  <a:srgbClr val="1F3864"/>
                </a:solidFill>
                <a:latin typeface="Arial"/>
              </a:rPr>
              <a:t>Why it wins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262626"/>
                </a:solidFill>
                <a:latin typeface="Arial"/>
              </a:rPr>
              <a:t>Deterministic net ranking + Why? evidence drawer; quantity what-if; buyer coverage; lot → offer → escrow → receipt; FPO pooling; AGMARK grading with trained vision model.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t>Kisan360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5363" name="Picture 15362" descr="kisan360-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31168" y="6327648"/>
            <a:ext cx="411480" cy="411480"/>
          </a:xfrm>
          <a:prstGeom prst="rect">
            <a:avLst/>
          </a:prstGeom>
        </p:spPr>
      </p:pic>
      <p:pic>
        <p:nvPicPr>
          <p:cNvPr id="15364" name="Picture 15363" descr="shot_dashbo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0" y="1234440"/>
            <a:ext cx="4572000" cy="2571750"/>
          </a:xfrm>
          <a:prstGeom prst="rect">
            <a:avLst/>
          </a:prstGeom>
          <a:ln w="12700">
            <a:solidFill>
              <a:srgbClr val="D6D3D1"/>
            </a:solidFill>
          </a:ln>
        </p:spPr>
      </p:pic>
      <p:sp>
        <p:nvSpPr>
          <p:cNvPr id="15365" name="TextBox 15364"/>
          <p:cNvSpPr txBox="1"/>
          <p:nvPr/>
        </p:nvSpPr>
        <p:spPr>
          <a:xfrm>
            <a:off x="7223760" y="3977639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5B5B5B"/>
                </a:solidFill>
                <a:latin typeface="Arial"/>
              </a:rPr>
              <a:t>Live product: crop · district · quantity → one question — “where should I sell?”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t>Kisan360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kisan360-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31168" y="6327648"/>
            <a:ext cx="411480" cy="411480"/>
          </a:xfrm>
          <a:prstGeom prst="rect">
            <a:avLst/>
          </a:prstGeom>
        </p:spPr>
      </p:pic>
      <p:sp>
        <p:nvSpPr>
          <p:cNvPr id="17412" name="Rounded Rectangle 17411"/>
          <p:cNvSpPr/>
          <p:nvPr/>
        </p:nvSpPr>
        <p:spPr>
          <a:xfrm>
            <a:off x="685800" y="1234440"/>
            <a:ext cx="1481328" cy="73152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AGMARKNET</a:t>
            </a:r>
          </a:p>
        </p:txBody>
      </p:sp>
      <p:cxnSp>
        <p:nvCxnSpPr>
          <p:cNvPr id="17413" name="Connector 17412"/>
          <p:cNvCxnSpPr/>
          <p:nvPr/>
        </p:nvCxnSpPr>
        <p:spPr>
          <a:xfrm>
            <a:off x="2167128" y="1600200"/>
            <a:ext cx="292608" cy="0"/>
          </a:xfrm>
          <a:prstGeom prst="line">
            <a:avLst/>
          </a:prstGeom>
          <a:ln w="28575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4" name="Rounded Rectangle 17413"/>
          <p:cNvSpPr/>
          <p:nvPr/>
        </p:nvSpPr>
        <p:spPr>
          <a:xfrm>
            <a:off x="2459736" y="1234440"/>
            <a:ext cx="1481328" cy="73152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Cache</a:t>
            </a:r>
          </a:p>
        </p:txBody>
      </p:sp>
      <p:cxnSp>
        <p:nvCxnSpPr>
          <p:cNvPr id="17415" name="Connector 17414"/>
          <p:cNvCxnSpPr/>
          <p:nvPr/>
        </p:nvCxnSpPr>
        <p:spPr>
          <a:xfrm>
            <a:off x="3941064" y="1600200"/>
            <a:ext cx="292608" cy="0"/>
          </a:xfrm>
          <a:prstGeom prst="line">
            <a:avLst/>
          </a:prstGeom>
          <a:ln w="28575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6" name="Rounded Rectangle 17415"/>
          <p:cNvSpPr/>
          <p:nvPr/>
        </p:nvSpPr>
        <p:spPr>
          <a:xfrm>
            <a:off x="4233672" y="1234440"/>
            <a:ext cx="1481328" cy="73152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Net Engine</a:t>
            </a:r>
          </a:p>
        </p:txBody>
      </p:sp>
      <p:cxnSp>
        <p:nvCxnSpPr>
          <p:cNvPr id="17417" name="Connector 17416"/>
          <p:cNvCxnSpPr/>
          <p:nvPr/>
        </p:nvCxnSpPr>
        <p:spPr>
          <a:xfrm>
            <a:off x="5715000" y="1600200"/>
            <a:ext cx="292608" cy="0"/>
          </a:xfrm>
          <a:prstGeom prst="line">
            <a:avLst/>
          </a:prstGeom>
          <a:ln w="28575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8" name="Rounded Rectangle 17417"/>
          <p:cNvSpPr/>
          <p:nvPr/>
        </p:nvSpPr>
        <p:spPr>
          <a:xfrm>
            <a:off x="6007608" y="1234440"/>
            <a:ext cx="1481328" cy="73152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Pathways</a:t>
            </a:r>
          </a:p>
        </p:txBody>
      </p:sp>
      <p:cxnSp>
        <p:nvCxnSpPr>
          <p:cNvPr id="17419" name="Connector 17418"/>
          <p:cNvCxnSpPr/>
          <p:nvPr/>
        </p:nvCxnSpPr>
        <p:spPr>
          <a:xfrm>
            <a:off x="7488936" y="1600200"/>
            <a:ext cx="292608" cy="0"/>
          </a:xfrm>
          <a:prstGeom prst="line">
            <a:avLst/>
          </a:prstGeom>
          <a:ln w="28575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0" name="Rounded Rectangle 17419"/>
          <p:cNvSpPr/>
          <p:nvPr/>
        </p:nvSpPr>
        <p:spPr>
          <a:xfrm>
            <a:off x="7781544" y="1234440"/>
            <a:ext cx="1481328" cy="73152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Trade</a:t>
            </a:r>
          </a:p>
        </p:txBody>
      </p:sp>
      <p:cxnSp>
        <p:nvCxnSpPr>
          <p:cNvPr id="17421" name="Connector 17420"/>
          <p:cNvCxnSpPr/>
          <p:nvPr/>
        </p:nvCxnSpPr>
        <p:spPr>
          <a:xfrm>
            <a:off x="9262872" y="1600200"/>
            <a:ext cx="292608" cy="0"/>
          </a:xfrm>
          <a:prstGeom prst="line">
            <a:avLst/>
          </a:prstGeom>
          <a:ln w="28575">
            <a:solidFill>
              <a:srgbClr val="1F38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2" name="Rounded Rectangle 17421"/>
          <p:cNvSpPr/>
          <p:nvPr/>
        </p:nvSpPr>
        <p:spPr>
          <a:xfrm>
            <a:off x="9555480" y="1234440"/>
            <a:ext cx="1481328" cy="731520"/>
          </a:xfrm>
          <a:prstGeom prst="round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Receipt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7415784" y="2240280"/>
            <a:ext cx="1554480" cy="685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047857"/>
                </a:solidFill>
                <a:latin typeface="Arial"/>
              </a:rPr>
              <a:t>Grade AI
AGMARK + vision</a:t>
            </a:r>
          </a:p>
        </p:txBody>
      </p:sp>
      <p:cxnSp>
        <p:nvCxnSpPr>
          <p:cNvPr id="17424" name="Connector 17423"/>
          <p:cNvCxnSpPr/>
          <p:nvPr/>
        </p:nvCxnSpPr>
        <p:spPr>
          <a:xfrm flipV="1">
            <a:off x="8193024" y="1965960"/>
            <a:ext cx="329184" cy="274320"/>
          </a:xfrm>
          <a:prstGeom prst="line">
            <a:avLst/>
          </a:prstGeom>
          <a:ln w="19050">
            <a:solidFill>
              <a:srgbClr val="0478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5" name="Rounded Rectangle 17424"/>
          <p:cNvSpPr/>
          <p:nvPr/>
        </p:nvSpPr>
        <p:spPr>
          <a:xfrm>
            <a:off x="9336024" y="2240280"/>
            <a:ext cx="1554480" cy="685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047857"/>
                </a:solidFill>
                <a:latin typeface="Arial"/>
              </a:rPr>
              <a:t>FPO Pool
50 q bulk</a:t>
            </a:r>
          </a:p>
        </p:txBody>
      </p:sp>
      <p:cxnSp>
        <p:nvCxnSpPr>
          <p:cNvPr id="17426" name="Connector 17425"/>
          <p:cNvCxnSpPr/>
          <p:nvPr/>
        </p:nvCxnSpPr>
        <p:spPr>
          <a:xfrm flipH="1" flipV="1">
            <a:off x="8522208" y="1965960"/>
            <a:ext cx="1591056" cy="274320"/>
          </a:xfrm>
          <a:prstGeom prst="line">
            <a:avLst/>
          </a:prstGeom>
          <a:ln w="19050">
            <a:solidFill>
              <a:srgbClr val="0478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7" name="TextBox 17426"/>
          <p:cNvSpPr txBox="1"/>
          <p:nvPr/>
        </p:nvSpPr>
        <p:spPr>
          <a:xfrm>
            <a:off x="685800" y="2999232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5B5B5B"/>
                </a:solidFill>
                <a:latin typeface="Arial"/>
              </a:rPr>
              <a:t>Data flow: every figure carries source + timestamp + assumption tags; simulated parts are labeled.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274320" y="3429000"/>
            <a:ext cx="6035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900" b="1">
                <a:solidFill>
                  <a:srgbClr val="1F3864"/>
                </a:solidFill>
                <a:latin typeface="Arial"/>
              </a:rPr>
              <a:t>Tech stack</a:t>
            </a:r>
          </a:p>
          <a:p>
            <a:pPr lvl="1">
              <a:spcAft>
                <a:spcPts val="500"/>
              </a:spcAft>
            </a:pPr>
            <a:r>
              <a:rPr sz="1200" b="0">
                <a:solidFill>
                  <a:srgbClr val="262626"/>
                </a:solidFill>
                <a:latin typeface="Arial"/>
              </a:rPr>
              <a:t>React + Vite + Tailwind + TF.js (in-browser freshness grader).</a:t>
            </a:r>
          </a:p>
          <a:p>
            <a:pPr lvl="1">
              <a:spcAft>
                <a:spcPts val="500"/>
              </a:spcAft>
            </a:pPr>
            <a:r>
              <a:rPr sz="1200" b="0">
                <a:solidFill>
                  <a:srgbClr val="262626"/>
                </a:solidFill>
                <a:latin typeface="Arial"/>
              </a:rPr>
              <a:t>Node/Express API — 22 routes; Python FastAPI: net-realization (:8002), disease CNN (:8000), advisory RAG (:8001).</a:t>
            </a:r>
          </a:p>
          <a:p>
            <a:pPr lvl="1">
              <a:spcAft>
                <a:spcPts val="500"/>
              </a:spcAft>
            </a:pPr>
            <a:r>
              <a:rPr sz="1200" b="0">
                <a:solidFill>
                  <a:srgbClr val="262626"/>
                </a:solidFill>
                <a:latin typeface="Arial"/>
              </a:rPr>
              <a:t>AGMARKNET live + stamped snapshot; MongoDB Atlas with memory fallback; Groq LLM explains only — never computes.</a:t>
            </a:r>
          </a:p>
          <a:p>
            <a:pPr lvl="1">
              <a:spcAft>
                <a:spcPts val="500"/>
              </a:spcAft>
            </a:pPr>
            <a:r>
              <a:rPr sz="1200" b="0">
                <a:solidFill>
                  <a:srgbClr val="262626"/>
                </a:solidFill>
                <a:latin typeface="Arial"/>
              </a:rPr>
              <a:t>Quality bar: 575 tests green; one-command boot; TRL 6 prototype.</a:t>
            </a:r>
          </a:p>
        </p:txBody>
      </p:sp>
      <p:pic>
        <p:nvPicPr>
          <p:cNvPr id="17429" name="Picture 17428" descr="shot_netr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40" y="3383280"/>
            <a:ext cx="4480560" cy="2520315"/>
          </a:xfrm>
          <a:prstGeom prst="rect">
            <a:avLst/>
          </a:prstGeom>
          <a:ln w="12700">
            <a:solidFill>
              <a:srgbClr val="D6D3D1"/>
            </a:solidFill>
          </a:ln>
        </p:spPr>
      </p:pic>
      <p:sp>
        <p:nvSpPr>
          <p:cNvPr id="17430" name="TextBox 17429"/>
          <p:cNvSpPr txBox="1"/>
          <p:nvPr/>
        </p:nvSpPr>
        <p:spPr>
          <a:xfrm>
            <a:off x="6720840" y="5925312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5B5B5B"/>
                </a:solidFill>
                <a:latin typeface="Arial"/>
              </a:rPr>
              <a:t>Live engine: APMC Vita nets ₹40,432 on the 10 q lot — ranked by take-home, evidence attached.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274320" y="1143000"/>
            <a:ext cx="6675120" cy="4937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5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1900" b="1">
                <a:solidFill>
                  <a:srgbClr val="1F3864"/>
                </a:solidFill>
                <a:latin typeface="Arial"/>
              </a:rPr>
              <a:t>Feasibility — prototype runs today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262626"/>
                </a:solidFill>
                <a:latin typeface="Arial"/>
              </a:rPr>
              <a:t>Full journey clickable: dashboard → ranking → lot → offer → buyer accept → payment → receipt; deployable per-district over AGMARKNET/eNAM, nothing to replace.</a:t>
            </a:r>
          </a:p>
          <a:p>
            <a:pPr>
              <a:spcAft>
                <a:spcPts val="500"/>
              </a:spcAft>
            </a:pPr>
            <a:r>
              <a:rPr sz="1900" b="1">
                <a:solidFill>
                  <a:srgbClr val="1F3864"/>
                </a:solidFill>
                <a:latin typeface="Arial"/>
              </a:rPr>
              <a:t>Risks + mitigations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262626"/>
                </a:solidFill>
                <a:latin typeface="Arial"/>
              </a:rPr>
              <a:t>AGMARKNET down → stamped snapshot, UI says CACHED. Atlas unreachable → memory DB + reseed.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262626"/>
                </a:solidFill>
                <a:latin typeface="Arial"/>
              </a:rPr>
              <a:t>Cost assumptions → shown on screen, stress-tested, break-even rates published.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262626"/>
                </a:solidFill>
                <a:latin typeface="Arial"/>
              </a:rPr>
              <a:t>Simulated buyers/payments → 4-tier trust labels + SIMULATED banners everywhere.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t>Kisan360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kisan360-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31168" y="6327648"/>
            <a:ext cx="411480" cy="411480"/>
          </a:xfrm>
          <a:prstGeom prst="rect">
            <a:avLst/>
          </a:prstGeom>
        </p:spPr>
      </p:pic>
      <p:pic>
        <p:nvPicPr>
          <p:cNvPr id="17412" name="Picture 17411" descr="shot_tra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0" y="1234440"/>
            <a:ext cx="4572000" cy="2571750"/>
          </a:xfrm>
          <a:prstGeom prst="rect">
            <a:avLst/>
          </a:prstGeom>
          <a:ln w="12700">
            <a:solidFill>
              <a:srgbClr val="D6D3D1"/>
            </a:solidFill>
          </a:ln>
        </p:spPr>
      </p:pic>
      <p:sp>
        <p:nvSpPr>
          <p:cNvPr id="17413" name="TextBox 17412"/>
          <p:cNvSpPr txBox="1"/>
          <p:nvPr/>
        </p:nvSpPr>
        <p:spPr>
          <a:xfrm>
            <a:off x="7223760" y="3977639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5B5B5B"/>
                </a:solidFill>
                <a:latin typeface="Arial"/>
              </a:rPr>
              <a:t>Decision tracker (INFORM → SELL) + lots → matched buyers → offers → escrow — one chain.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5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1900" b="1">
                <a:solidFill>
                  <a:srgbClr val="1F3864"/>
                </a:solidFill>
                <a:latin typeface="Arial"/>
              </a:rPr>
              <a:t>Beneficiaries</a:t>
            </a:r>
          </a:p>
          <a:p>
            <a:pPr lvl="1">
              <a:spcAft>
                <a:spcPts val="5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Small &amp; marginal farmers (better sale choice per lot); FPOs (bulk tier + buyer minimums unlocked); buyers (aggregated, graded lots); Government (decision layer on public data).</a:t>
            </a:r>
          </a:p>
          <a:p>
            <a:pPr>
              <a:spcAft>
                <a:spcPts val="500"/>
              </a:spcAft>
            </a:pPr>
            <a:r>
              <a:rPr sz="1900" b="1">
                <a:solidFill>
                  <a:srgbClr val="1F3864"/>
                </a:solidFill>
                <a:latin typeface="Arial"/>
              </a:rPr>
              <a:t>Benefits</a:t>
            </a:r>
          </a:p>
          <a:p>
            <a:pPr lvl="1">
              <a:spcAft>
                <a:spcPts val="5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Economic: engine-estimated decision difference per lot (live values on screen — never an income guarantee).</a:t>
            </a:r>
          </a:p>
          <a:p>
            <a:pPr lvl="1">
              <a:spcAft>
                <a:spcPts val="5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Social: bargaining power from data — offer benchmark vs reference; grievance workflow with resolution states.</a:t>
            </a:r>
          </a:p>
          <a:p>
            <a:pPr lvl="1">
              <a:spcAft>
                <a:spcPts val="5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Post-harvest: sale-window + storage-breakeven guidance cuts distress sales; transparent receipts build credit history.</a:t>
            </a:r>
          </a:p>
          <a:p>
            <a:pPr lvl="1">
              <a:spcAft>
                <a:spcPts val="5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Scalable: new crop/district/mandi/buyer = data entry; daily refresh; metrics declared before deployment, never fabricated.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t>Kisan360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kisan360-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31168" y="6327648"/>
            <a:ext cx="411480" cy="411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5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1900" b="1">
                <a:solidFill>
                  <a:srgbClr val="1F3864"/>
                </a:solidFill>
                <a:latin typeface="Arial"/>
              </a:rPr>
              <a:t>Data &amp; standards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lvl="1">
              <a:spcAft>
                <a:spcPts val="5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AGMARKNET via data.gov.in API — live mandi price source behind the engine.</a:t>
            </a:r>
          </a:p>
          <a:p>
            <a:pPr lvl="1">
              <a:spcAft>
                <a:spcPts val="5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eNAM (National Agriculture Market) — digital trading-channel integration reference.</a:t>
            </a:r>
          </a:p>
          <a:p>
            <a:pPr lvl="1">
              <a:spcAft>
                <a:spcPts val="5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AGMARK standards, Directorate of Marketing &amp; Inspection (DMI) — grade thresholds in the rule engine (7 crops × 3 grades).</a:t>
            </a:r>
          </a:p>
          <a:p>
            <a:pPr>
              <a:spcAft>
                <a:spcPts val="500"/>
              </a:spcAft>
            </a:pPr>
            <a:r>
              <a:rPr sz="1900" b="1">
                <a:solidFill>
                  <a:srgbClr val="1F3864"/>
                </a:solidFill>
                <a:latin typeface="Arial"/>
              </a:rPr>
              <a:t>Models &amp; research</a:t>
            </a:r>
          </a:p>
          <a:p>
            <a:pPr lvl="1">
              <a:spcAft>
                <a:spcPts val="5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MobileNetV2 (Sandler et al., 2018) — backbone of the shipped freshness grader (99.2% fresh/rotten, 6,738-image split) and the 38-class disease model.</a:t>
            </a:r>
          </a:p>
          <a:p>
            <a:pPr lvl="1">
              <a:spcAft>
                <a:spcPts val="5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Agriculture Census 2015-16 — 86.2% holdings small &amp; marginal (&lt;2 ha): the core beneficiary group.</a:t>
            </a:r>
          </a:p>
          <a:p>
            <a:pPr lvl="1">
              <a:spcAft>
                <a:spcPts val="500"/>
              </a:spcAft>
            </a:pPr>
            <a:r>
              <a:rPr sz="1400" b="0">
                <a:solidFill>
                  <a:srgbClr val="262626"/>
                </a:solidFill>
                <a:latin typeface="Arial"/>
              </a:rPr>
              <a:t>Groq llama-3.3-70b-versatile — explanation-only LLM with deterministic template fallback.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t>Kisan360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kisan360-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31168" y="6327648"/>
            <a:ext cx="411480" cy="411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