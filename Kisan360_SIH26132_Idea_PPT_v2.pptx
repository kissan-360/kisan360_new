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5760" y="171498"/>
            <a:ext cx="7993656" cy="1279016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Problem Statement ID : </a:t>
            </a:r>
            <a:r>
              <a:rPr sz="1500" dirty="0">
                <a:latin typeface="Arial"/>
              </a:rPr>
              <a:t>26132</a:t>
            </a:r>
            <a:endParaRPr lang="en-US" dirty="0"/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Problem Statement Title : </a:t>
            </a:r>
            <a:r>
              <a:rPr sz="1500" dirty="0">
                <a:latin typeface="Arial"/>
              </a:rPr>
              <a:t>Strengthening market linkages and price discovery for farmers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Theme : </a:t>
            </a:r>
            <a:r>
              <a:rPr sz="1500" dirty="0">
                <a:latin typeface="Arial"/>
              </a:rPr>
              <a:t>Agriculture, </a:t>
            </a:r>
            <a:r>
              <a:rPr sz="1500" dirty="0" err="1">
                <a:latin typeface="Arial"/>
              </a:rPr>
              <a:t>FoodTech</a:t>
            </a:r>
            <a:r>
              <a:rPr sz="1500" dirty="0">
                <a:latin typeface="Arial"/>
              </a:rPr>
              <a:t> &amp; Rural Development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PS Category : </a:t>
            </a:r>
            <a:r>
              <a:rPr sz="1500" dirty="0">
                <a:latin typeface="Arial"/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Team ID : </a:t>
            </a:r>
            <a:r>
              <a:rPr sz="1500" dirty="0">
                <a:latin typeface="Arial"/>
              </a:rPr>
              <a:t>TBD (update from portal)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Team Name : </a:t>
            </a:r>
            <a:r>
              <a:rPr sz="1500" dirty="0">
                <a:latin typeface="Arial"/>
              </a:rPr>
              <a:t>Kisan360  |  CMR University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61413"/>
              </p:ext>
            </p:extLst>
          </p:nvPr>
        </p:nvGraphicFramePr>
        <p:xfrm>
          <a:off x="365760" y="44805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Dept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M/F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Rian Hussain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Nishant Sutariya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Keerthan M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Musalareddy Chaitna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Koneti Praneeth Kumar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Muruga Santhosh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Prof Bhagya (Mentor)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100" b="0" dirty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  <a:endParaRPr sz="1100" b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100" b="0" dirty="0">
                          <a:solidFill>
                            <a:srgbClr val="262626"/>
                          </a:solidFill>
                          <a:latin typeface="Arial"/>
                        </a:rPr>
                        <a:t>F</a:t>
                      </a:r>
                      <a:endParaRPr sz="1100" b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9" name="Picture 38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09728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rPr dirty="0"/>
              <a:t>Kisan360: net-realization engine + market linkage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274320" y="1143000"/>
            <a:ext cx="66751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Font typeface="Wingdings" panose="05000000000000000000" pitchFamily="2" charset="2"/>
              <a:buChar char="v"/>
            </a:pPr>
            <a:r>
              <a:rPr sz="1900" b="1" dirty="0">
                <a:solidFill>
                  <a:srgbClr val="1F3864"/>
                </a:solidFill>
                <a:latin typeface="Arial"/>
              </a:rPr>
              <a:t>Idea in one line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Kisan360 shows where a lot will actually realize the most — not just the highest headline mandi price — then connects that decision to buyers, offers and payment.</a:t>
            </a:r>
          </a:p>
          <a:p>
            <a:pPr>
              <a:spcAft>
                <a:spcPts val="500"/>
              </a:spcAft>
            </a:pPr>
            <a:r>
              <a:rPr sz="1900" b="1" dirty="0">
                <a:solidFill>
                  <a:srgbClr val="1F3864"/>
                </a:solidFill>
                <a:latin typeface="Arial"/>
              </a:rPr>
              <a:t>The problem (PS 26132)</a:t>
            </a: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Headline price minus transport/loading/fees differs per mandi: the highest price can leave less money.</a:t>
            </a: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~86% of holdings are small &amp; marginal (&lt;2 ha, Agri Census) — they distress-sell at harvest with weak bargaining power.</a:t>
            </a:r>
          </a:p>
          <a:p>
            <a:pPr>
              <a:spcAft>
                <a:spcPts val="500"/>
              </a:spcAft>
            </a:pPr>
            <a:r>
              <a:rPr sz="1900" b="1" dirty="0">
                <a:solidFill>
                  <a:srgbClr val="1F3864"/>
                </a:solidFill>
                <a:latin typeface="Arial"/>
              </a:rPr>
              <a:t>Why it wins</a:t>
            </a: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Deterministic net ranking + Why? evidence drawer; quantity what-if; buyer coverage; lot → offer → escrow → receipt; FPO pooling; AGMARK grading with trained vision model.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064" y="213182"/>
            <a:ext cx="655816" cy="655816"/>
          </a:xfrm>
          <a:prstGeom prst="rect">
            <a:avLst/>
          </a:prstGeom>
        </p:spPr>
      </p:pic>
      <p:pic>
        <p:nvPicPr>
          <p:cNvPr id="15364" name="Picture 15363" descr="shot_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234440"/>
            <a:ext cx="4572000" cy="2571750"/>
          </a:xfrm>
          <a:prstGeom prst="rect">
            <a:avLst/>
          </a:prstGeom>
          <a:ln w="12700">
            <a:solidFill>
              <a:srgbClr val="D6D3D1"/>
            </a:solidFill>
          </a:ln>
        </p:spPr>
      </p:pic>
      <p:sp>
        <p:nvSpPr>
          <p:cNvPr id="15365" name="TextBox 15364"/>
          <p:cNvSpPr txBox="1"/>
          <p:nvPr/>
        </p:nvSpPr>
        <p:spPr>
          <a:xfrm>
            <a:off x="7223760" y="397763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Live product: crop · district · quantity → one question — “where should I sell?”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685800" y="1234440"/>
            <a:ext cx="1481328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AGMARKNET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2167128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2459736" y="1234440"/>
            <a:ext cx="1481328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Cache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3941064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4233672" y="1234440"/>
            <a:ext cx="1481328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Net Engine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5715000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6007608" y="1234440"/>
            <a:ext cx="1481328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Pathways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7488936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7781544" y="1234440"/>
            <a:ext cx="1481328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Trade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9262872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9555480" y="1234440"/>
            <a:ext cx="1481328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Receipt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415784" y="2240280"/>
            <a:ext cx="15544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47857"/>
                </a:solidFill>
                <a:latin typeface="Arial"/>
              </a:rPr>
              <a:t>Grade AI
AGMARK + vision</a:t>
            </a:r>
          </a:p>
        </p:txBody>
      </p:sp>
      <p:cxnSp>
        <p:nvCxnSpPr>
          <p:cNvPr id="17424" name="Connector 17423"/>
          <p:cNvCxnSpPr/>
          <p:nvPr/>
        </p:nvCxnSpPr>
        <p:spPr>
          <a:xfrm flipV="1">
            <a:off x="8193024" y="1965960"/>
            <a:ext cx="329184" cy="274320"/>
          </a:xfrm>
          <a:prstGeom prst="line">
            <a:avLst/>
          </a:prstGeom>
          <a:ln w="19050">
            <a:solidFill>
              <a:srgbClr val="047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9336024" y="2240280"/>
            <a:ext cx="15544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47857"/>
                </a:solidFill>
                <a:latin typeface="Arial"/>
              </a:rPr>
              <a:t>FPO Pool
50 q bulk</a:t>
            </a:r>
          </a:p>
        </p:txBody>
      </p:sp>
      <p:cxnSp>
        <p:nvCxnSpPr>
          <p:cNvPr id="17426" name="Connector 17425"/>
          <p:cNvCxnSpPr/>
          <p:nvPr/>
        </p:nvCxnSpPr>
        <p:spPr>
          <a:xfrm flipH="1" flipV="1">
            <a:off x="8522208" y="1965960"/>
            <a:ext cx="1591056" cy="274320"/>
          </a:xfrm>
          <a:prstGeom prst="line">
            <a:avLst/>
          </a:prstGeom>
          <a:ln w="19050">
            <a:solidFill>
              <a:srgbClr val="047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685800" y="299923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Data flow: every figure carries source + timestamp + assumption tags; simulated parts are labeled.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74320" y="342900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Tech stack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React + Vite + Tailwind + TF.js (in-browser freshness grader).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Node/Express API — 22 routes; Python FastAPI: net-realization (:8002), disease CNN (:8000), advisory RAG (:8001).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AGMARKNET live + stamped snapshot; MongoDB Atlas with memory fallback; Groq LLM explains only — never computes.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Quality bar: 575 tests green; one-command boot; TRL 6 prototype.</a:t>
            </a:r>
          </a:p>
        </p:txBody>
      </p:sp>
      <p:pic>
        <p:nvPicPr>
          <p:cNvPr id="17429" name="Picture 17428" descr="shot_net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383280"/>
            <a:ext cx="4480560" cy="2520315"/>
          </a:xfrm>
          <a:prstGeom prst="rect">
            <a:avLst/>
          </a:prstGeom>
          <a:ln w="12700">
            <a:solidFill>
              <a:srgbClr val="D6D3D1"/>
            </a:solidFill>
          </a:ln>
        </p:spPr>
      </p:pic>
      <p:sp>
        <p:nvSpPr>
          <p:cNvPr id="17430" name="TextBox 17429"/>
          <p:cNvSpPr txBox="1"/>
          <p:nvPr/>
        </p:nvSpPr>
        <p:spPr>
          <a:xfrm>
            <a:off x="6720840" y="5925312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Live engine: APMC Vita nets ₹40,432 on the 10 q lot — ranked by take-home, evidence attached.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274320" y="2482329"/>
            <a:ext cx="6675120" cy="25981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sz="1900" b="1" dirty="0">
                <a:solidFill>
                  <a:srgbClr val="1F3864"/>
                </a:solidFill>
                <a:latin typeface="Arial"/>
              </a:rPr>
              <a:t>Feasibility — prototype runs today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Full journey clickable: dashboard → ranking → lot → offer → buyer accept → payment → receipt; deployable per-district over AGMARKNET/</a:t>
            </a:r>
            <a:r>
              <a:rPr sz="1300" b="0" dirty="0" err="1">
                <a:solidFill>
                  <a:srgbClr val="262626"/>
                </a:solidFill>
                <a:latin typeface="Arial"/>
              </a:rPr>
              <a:t>eNAM</a:t>
            </a:r>
            <a:r>
              <a:rPr sz="1300" b="0" dirty="0">
                <a:solidFill>
                  <a:srgbClr val="262626"/>
                </a:solidFill>
                <a:latin typeface="Arial"/>
              </a:rPr>
              <a:t>, nothing to replace.</a:t>
            </a:r>
          </a:p>
          <a:p>
            <a:pPr>
              <a:spcAft>
                <a:spcPts val="500"/>
              </a:spcAft>
            </a:pPr>
            <a:r>
              <a:rPr sz="1900" b="1" dirty="0">
                <a:solidFill>
                  <a:srgbClr val="1F3864"/>
                </a:solidFill>
                <a:latin typeface="Arial"/>
              </a:rPr>
              <a:t>Risks + mitigations</a:t>
            </a: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AGMARKNET down → stamped snapshot, UI says CACHED. Atlas unreachable → memory DB + reseed.</a:t>
            </a: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Cost assumptions → shown on screen, stress-tested, break-even rates published.</a:t>
            </a:r>
          </a:p>
          <a:p>
            <a:pPr lvl="1">
              <a:spcAft>
                <a:spcPts val="500"/>
              </a:spcAft>
            </a:pPr>
            <a:r>
              <a:rPr sz="1300" b="0" dirty="0">
                <a:solidFill>
                  <a:srgbClr val="262626"/>
                </a:solidFill>
                <a:latin typeface="Arial"/>
              </a:rPr>
              <a:t>Simulated buyers/payments → 4-tier trust labels + SIMULATED banners everywhere.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  <p:pic>
        <p:nvPicPr>
          <p:cNvPr id="17412" name="Picture 17411" descr="shot_tr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234440"/>
            <a:ext cx="4572000" cy="2571750"/>
          </a:xfrm>
          <a:prstGeom prst="rect">
            <a:avLst/>
          </a:prstGeom>
          <a:ln w="12700">
            <a:solidFill>
              <a:srgbClr val="D6D3D1"/>
            </a:solidFill>
          </a:ln>
        </p:spPr>
      </p:pic>
      <p:sp>
        <p:nvSpPr>
          <p:cNvPr id="17413" name="TextBox 17412"/>
          <p:cNvSpPr txBox="1"/>
          <p:nvPr/>
        </p:nvSpPr>
        <p:spPr>
          <a:xfrm>
            <a:off x="7223760" y="397763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Decision tracker (INFORM → SELL) + lots → matched buyers → offers → escrow — one chain.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900" b="1">
                <a:solidFill>
                  <a:srgbClr val="1F3864"/>
                </a:solidFill>
                <a:latin typeface="Arial"/>
              </a:rPr>
              <a:t>Beneficiaries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Small &amp; marginal farmers (better sale choice per lot); FPOs (bulk tier + buyer minimums unlocked); buyers (aggregated, graded lots); Government (decision layer on public data).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Benefits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Economic: engine-estimated decision difference per lot (live values on screen — never an income guarantee).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Social: bargaining power from data — offer benchmark vs reference; grievance workflow with resolution states.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Post-harvest: sale-window + storage-breakeven guidance cuts distress sales; transparent receipts build credit history.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Scalable: new crop/district/mandi/buyer = data entry; daily refresh; metrics declared before deployment, never fabricated.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900" b="1">
                <a:solidFill>
                  <a:srgbClr val="1F3864"/>
                </a:solidFill>
                <a:latin typeface="Arial"/>
              </a:rPr>
              <a:t>Data &amp; standards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AGMARKNET via data.gov.in API — live mandi price source behind the engine.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eNAM (National Agriculture Market) — digital trading-channel integration reference.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AGMARK standards, Directorate of Marketing &amp; Inspection (DMI) — grade thresholds in the rule engine (7 crops × 3 grades).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Models &amp; research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MobileNetV2 (Sandler et al., 2018) — backbone of the shipped freshness grader (99.2% fresh/rotten, 6,738-image split) and the 38-class disease model.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Agriculture Census 2015-16 — 86.2% holdings small &amp; marginal (&lt;2 ha): the core beneficiary group.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Groq llama-3.3-70b-versatile — explanation-only LLM with deterministic template fallback.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7519</TotalTime>
  <Words>753</Words>
  <Application>Microsoft Office PowerPoint</Application>
  <PresentationFormat>Widescreen</PresentationFormat>
  <Paragraphs>100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TradeGothic</vt:lpstr>
      <vt:lpstr>Wingdings</vt:lpstr>
      <vt:lpstr>Office Theme</vt:lpstr>
      <vt:lpstr>SMART INDIA HACKATHON 2026</vt:lpstr>
      <vt:lpstr>Kisan360: net-realization engine + market linkage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Rian Hussain</cp:lastModifiedBy>
  <cp:revision>149</cp:revision>
  <dcterms:created xsi:type="dcterms:W3CDTF">2013-12-12T18:46:50Z</dcterms:created>
  <dcterms:modified xsi:type="dcterms:W3CDTF">2026-09-12T07:48:47Z</dcterms:modified>
  <cp:category/>
</cp:coreProperties>
</file>