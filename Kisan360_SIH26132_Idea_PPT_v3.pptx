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5760" y="171498"/>
            <a:ext cx="7993656" cy="1279016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Problem Statement ID : </a:t>
            </a:r>
            <a:r>
              <a:rPr sz="1500" dirty="0">
                <a:latin typeface="Arial"/>
              </a:rPr>
              <a:t>26132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Problem Statement Title : </a:t>
            </a:r>
            <a:r>
              <a:rPr sz="1500" dirty="0">
                <a:latin typeface="Arial"/>
              </a:rPr>
              <a:t>Strengthening market linkages and price discovery for farmers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Theme : </a:t>
            </a:r>
            <a:r>
              <a:rPr sz="1500" dirty="0">
                <a:latin typeface="Arial"/>
              </a:rPr>
              <a:t>Agriculture, </a:t>
            </a:r>
            <a:r>
              <a:rPr sz="1500" dirty="0" err="1">
                <a:latin typeface="Arial"/>
              </a:rPr>
              <a:t>FoodTech</a:t>
            </a:r>
            <a:r>
              <a:rPr sz="1500" dirty="0">
                <a:latin typeface="Arial"/>
              </a:rPr>
              <a:t> &amp; Rural Development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PS Category : </a:t>
            </a:r>
            <a:r>
              <a:rPr sz="1500" dirty="0">
                <a:latin typeface="Arial"/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Team ID : </a:t>
            </a:r>
            <a:r>
              <a:rPr sz="1400" dirty="0" b="1">
                <a:solidFill>
                  <a:srgbClr val="D97706"/>
                </a:solidFill>
                <a:latin typeface="Arial"/>
              </a:rPr>
              <a:t>TEAM_ID_HERE (update from portal)</a:t>
            </a:r>
          </a:p>
          <a:p>
            <a:pPr>
              <a:spcAft>
                <a:spcPts val="400"/>
              </a:spcAft>
            </a:pPr>
            <a:r>
              <a:rPr sz="1500" b="1" dirty="0">
                <a:latin typeface="Arial"/>
              </a:rPr>
              <a:t>Team Name : </a:t>
            </a:r>
            <a:r>
              <a:rPr sz="1500" dirty="0">
                <a:latin typeface="Arial"/>
              </a:rPr>
              <a:t>Kisan360  |  CMR University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61413"/>
              </p:ext>
            </p:extLst>
          </p:nvPr>
        </p:nvGraphicFramePr>
        <p:xfrm>
          <a:off x="365760" y="448056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Dept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M/F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Rian Hussain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Nishant Sutariya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Keerthan M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Musalareddy Chaitna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Koneti Praneeth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Muruga Santhosh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Prof Bhagya (Mentor)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0" dirty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  <a:endParaRPr sz="1100" b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b="0" dirty="0">
                          <a:solidFill>
                            <a:srgbClr val="262626"/>
                          </a:solidFill>
                          <a:latin typeface="Arial"/>
                        </a:rPr>
                        <a:t>F</a:t>
                      </a:r>
                      <a:endParaRPr sz="1100" b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9" name="Picture 38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09728"/>
            <a:ext cx="868680" cy="8686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29184" y="1517904"/>
            <a:ext cx="6309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1">
                <a:solidFill>
                  <a:srgbClr val="047857"/>
                </a:solidFill>
                <a:latin typeface="Calibri"/>
              </a:rPr>
              <a:t>“Find where you take home the most.”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960120" y="0"/>
            <a:ext cx="8366760" cy="1143000"/>
          </a:xfrm>
        </p:spPr>
        <p:txBody>
          <a:bodyPr/>
          <a:lstStyle/>
          <a:p>
            <a:r>
              <a:rPr dirty="0" sz="3000"/>
              <a:t>Kisan360: net-realization engine + market linkage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74320" y="1143000"/>
            <a:ext cx="64008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100" b="1">
                <a:solidFill>
                  <a:srgbClr val="047857"/>
                </a:solidFill>
              </a:rPr>
              <a:t>Idea in one line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</a:p>
          <a:p>
            <a:pPr lvl="1">
              <a:spcAft>
                <a:spcPts val="500"/>
              </a:spcAft>
            </a:pPr>
          </a:p>
          <a:p>
            <a:pPr lvl="1"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</a:p>
          <a:p>
            <a:pPr lvl="1">
              <a:spcAft>
                <a:spcPts val="500"/>
              </a:spcAft>
            </a:pPr>
          </a:p>
          <a:p>
            <a:pPr>
              <a:spcAft>
                <a:spcPts val="400"/>
              </a:spcAft>
            </a:pPr>
            <a:r>
              <a:rPr sz="4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Kisan360 shows where a lot will actually realize the most — not just the highest headline mandi price — then connects that decision to buyers, offers and payment.</a:t>
            </a:r>
          </a:p>
          <a:p>
            <a:pPr>
              <a:spcAft>
                <a:spcPts val="400"/>
              </a:spcAft>
            </a:pPr>
            <a:r>
              <a:rPr sz="4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47857"/>
                </a:solidFill>
              </a:rPr>
              <a:t>The problem (PS 26132)</a:t>
            </a:r>
          </a:p>
          <a:p>
            <a:pPr>
              <a:spcAft>
                <a:spcPts val="400"/>
              </a:spcAft>
            </a:pPr>
            <a:r>
              <a:rPr sz="4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~86% of holdings are small &amp; marginal — they distress-sell at harvest with weak bargaining power.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The highest mandi price can leave the farmer with less money after transport, loading, and fees.</a:t>
            </a:r>
          </a:p>
          <a:p>
            <a:pPr>
              <a:spcAft>
                <a:spcPts val="400"/>
              </a:spcAft>
            </a:pPr>
            <a:r>
              <a:rPr sz="4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47857"/>
                </a:solidFill>
              </a:rPr>
              <a:t>Why it wins</a:t>
            </a:r>
          </a:p>
          <a:p>
            <a:pPr>
              <a:spcAft>
                <a:spcPts val="400"/>
              </a:spcAft>
            </a:pPr>
            <a:r>
              <a:rPr sz="4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Deterministic net ranking. Buyer coverage. Lot → offer → escrow → receipt. FPO pooling. AGMARK grading with trained vision model.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213182"/>
            <a:ext cx="655816" cy="655816"/>
          </a:xfrm>
          <a:prstGeom prst="rect">
            <a:avLst/>
          </a:prstGeom>
        </p:spPr>
      </p:pic>
      <p:pic>
        <p:nvPicPr>
          <p:cNvPr id="15364" name="Picture 15363" descr="shot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234440"/>
            <a:ext cx="4572000" cy="2571750"/>
          </a:xfrm>
          <a:prstGeom prst="rect">
            <a:avLst/>
          </a:prstGeom>
          <a:ln w="12700">
            <a:solidFill>
              <a:srgbClr val="D6D3D1"/>
            </a:solidFill>
          </a:ln>
        </p:spPr>
      </p:pic>
      <p:sp>
        <p:nvSpPr>
          <p:cNvPr id="15365" name="TextBox 15364"/>
          <p:cNvSpPr txBox="1"/>
          <p:nvPr/>
        </p:nvSpPr>
        <p:spPr>
          <a:xfrm>
            <a:off x="7223760" y="382219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B5B5B"/>
                </a:solidFill>
                <a:latin typeface="Arial"/>
              </a:rPr>
              <a:t>Live product: crop · district · quantity → one question — “where should I sell?”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720840" y="4187952"/>
            <a:ext cx="5074920" cy="2066543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6949440" y="4306824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9FB3D1"/>
                </a:solidFill>
                <a:latin typeface="Calibri"/>
              </a:rPr>
              <a:t>HOW KISAN360 RANKS  ·  ONION · NAGPUR · 10 q  (LIVE)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949440" y="4608576"/>
            <a:ext cx="1417319" cy="713232"/>
          </a:xfrm>
          <a:prstGeom prst="roundRect">
            <a:avLst>
              <a:gd name="adj" fmla="val 8000"/>
            </a:avLst>
          </a:prstGeom>
          <a:solidFill>
            <a:srgbClr val="2A4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6949440" y="4690872"/>
            <a:ext cx="14173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HEADLINE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949440" y="4892040"/>
            <a:ext cx="14173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₹5,000/q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8549640" y="4608576"/>
            <a:ext cx="1417319" cy="713232"/>
          </a:xfrm>
          <a:prstGeom prst="roundRect">
            <a:avLst>
              <a:gd name="adj" fmla="val 8000"/>
            </a:avLst>
          </a:prstGeom>
          <a:solidFill>
            <a:srgbClr val="5C3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8549640" y="4690872"/>
            <a:ext cx="14173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79646"/>
                </a:solidFill>
                <a:latin typeface="Calibri"/>
              </a:rPr>
              <a:t>COSTS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8549640" y="4892040"/>
            <a:ext cx="14173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79646"/>
                </a:solidFill>
                <a:latin typeface="Calibri"/>
              </a:rPr>
              <a:t>−₹957/q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10149840" y="4608576"/>
            <a:ext cx="1417319" cy="713232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10149840" y="4690872"/>
            <a:ext cx="14173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NET (EST.)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10149840" y="4892040"/>
            <a:ext cx="14173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₹4,043/q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6949440" y="541324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D6E0F0"/>
                </a:solidFill>
                <a:latin typeface="Calibri"/>
              </a:rPr>
              <a:t>10 q × ₹4,043/q = </a:t>
            </a:r>
            <a:r>
              <a:rPr sz="1200" b="1">
                <a:solidFill>
                  <a:srgbClr val="3FCB94"/>
                </a:solidFill>
                <a:latin typeface="Calibri"/>
              </a:rPr>
              <a:t>₹40,432</a:t>
            </a:r>
            <a:r>
              <a:rPr sz="1200">
                <a:solidFill>
                  <a:srgbClr val="D6E0F0"/>
                </a:solidFill>
                <a:latin typeface="Calibri"/>
              </a:rPr>
              <a:t>  for this lot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6949440" y="5687568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7534E"/>
                </a:solidFill>
              </a:rPr>
              <a:t>Same mandi tops both price and take-home today. Edge vs next-best (APMC Bhusaval): +₹770/q.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904" y="-47548"/>
            <a:ext cx="8778240" cy="1143000"/>
          </a:xfrm>
        </p:spPr>
        <p:txBody>
          <a:bodyPr/>
          <a:lstStyle/>
          <a:p>
            <a:r>
              <a:rPr sz="3400"/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73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300"/>
              <a:t>Kisan360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685800" y="1234440"/>
            <a:ext cx="1481328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AGMARKNET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2167128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2459736" y="1234440"/>
            <a:ext cx="1481328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Cache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3941064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233672" y="1234440"/>
            <a:ext cx="1481328" cy="7315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Net Engine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5715000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6007608" y="1234440"/>
            <a:ext cx="1481328" cy="7315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Pathways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7488936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7781544" y="1234440"/>
            <a:ext cx="1481328" cy="7315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Trade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9262872" y="1600200"/>
            <a:ext cx="292608" cy="0"/>
          </a:xfrm>
          <a:prstGeom prst="line">
            <a:avLst/>
          </a:prstGeom>
          <a:ln w="2857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9555480" y="1234440"/>
            <a:ext cx="1481328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Receipt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415784" y="2240280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47857"/>
                </a:solidFill>
                <a:latin typeface="Arial"/>
              </a:rPr>
              <a:t>Grade AI
AGMARK + vision</a:t>
            </a:r>
          </a:p>
        </p:txBody>
      </p:sp>
      <p:cxnSp>
        <p:nvCxnSpPr>
          <p:cNvPr id="17424" name="Connector 17423"/>
          <p:cNvCxnSpPr/>
          <p:nvPr/>
        </p:nvCxnSpPr>
        <p:spPr>
          <a:xfrm flipV="1">
            <a:off x="8193024" y="1965960"/>
            <a:ext cx="329184" cy="27432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9336024" y="2240280"/>
            <a:ext cx="155448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47857"/>
                </a:solidFill>
                <a:latin typeface="Arial"/>
              </a:rPr>
              <a:t>FPO Pool
50 q bulk</a:t>
            </a:r>
          </a:p>
        </p:txBody>
      </p:sp>
      <p:cxnSp>
        <p:nvCxnSpPr>
          <p:cNvPr id="17426" name="Connector 17425"/>
          <p:cNvCxnSpPr/>
          <p:nvPr/>
        </p:nvCxnSpPr>
        <p:spPr>
          <a:xfrm flipH="1" flipV="1">
            <a:off x="8522208" y="1965960"/>
            <a:ext cx="1591056" cy="27432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685800" y="29992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B5B5B"/>
                </a:solidFill>
                <a:latin typeface="Arial"/>
              </a:rPr>
              <a:t>Data flow: every figure carries source + timestamp + assumption tags; simulated parts are labeled.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74320" y="342900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47857"/>
                </a:solidFill>
              </a:rPr>
              <a:t>Tech stack</a:t>
            </a:r>
          </a:p>
          <a:p>
            <a:pPr lvl="1">
              <a:spcAft>
                <a:spcPts val="500"/>
              </a:spcAft>
            </a:pPr>
          </a:p>
          <a:p>
            <a:pPr lvl="1">
              <a:spcAft>
                <a:spcPts val="500"/>
              </a:spcAft>
            </a:pPr>
          </a:p>
          <a:p>
            <a:pPr lvl="1">
              <a:spcAft>
                <a:spcPts val="500"/>
              </a:spcAft>
            </a:pPr>
          </a:p>
          <a:p>
            <a:pPr lvl="1">
              <a:spcAft>
                <a:spcPts val="500"/>
              </a:spcAft>
            </a:pPr>
          </a:p>
          <a:p>
            <a:pPr>
              <a:spcAft>
                <a:spcPts val="400"/>
              </a:spcAft>
            </a:pPr>
            <a:r>
              <a:rPr sz="3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React + Vite + Tailwind + TF.js (in-browser freshness grader).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Node/Express API — 22 routes; Python FastAPI: net-realization, disease CNN, advisory RAG.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AGMARKNET live + stamped snapshot; MongoDB Atlas with memory fallback; Groq LLM explains only.</a:t>
            </a:r>
          </a:p>
        </p:txBody>
      </p:sp>
      <p:pic>
        <p:nvPicPr>
          <p:cNvPr id="17429" name="Picture 17428" descr="shot_net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383280"/>
            <a:ext cx="4480560" cy="2520315"/>
          </a:xfrm>
          <a:prstGeom prst="rect">
            <a:avLst/>
          </a:prstGeom>
          <a:ln w="12700">
            <a:solidFill>
              <a:srgbClr val="D6D3D1"/>
            </a:solidFill>
          </a:ln>
        </p:spPr>
      </p:pic>
      <p:sp>
        <p:nvSpPr>
          <p:cNvPr id="17430" name="TextBox 17429"/>
          <p:cNvSpPr txBox="1"/>
          <p:nvPr/>
        </p:nvSpPr>
        <p:spPr>
          <a:xfrm>
            <a:off x="6720840" y="592531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B5B5B"/>
                </a:solidFill>
                <a:latin typeface="Arial"/>
              </a:rPr>
              <a:t>Live engine: APMC Vita nets ₹40,432 on the 10 q lot — ranked by take-home, evidence attached.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31520" y="3100000"/>
            <a:ext cx="1400000" cy="3500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TRL 6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2560320" y="3100000"/>
            <a:ext cx="1400000" cy="3500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577 tests · 0 failures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389120" y="3100000"/>
            <a:ext cx="1400000" cy="3500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22 API routes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904" y="-47548"/>
            <a:ext cx="8778240" cy="1143000"/>
          </a:xfrm>
        </p:spPr>
        <p:txBody>
          <a:bodyPr/>
          <a:lstStyle/>
          <a:p>
            <a:r>
              <a:rPr dirty="0" sz="3000"/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74320" y="1234440"/>
            <a:ext cx="6675120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sz="1200" b="1">
                <a:solidFill>
                  <a:srgbClr val="047857"/>
                </a:solidFill>
              </a:rPr>
              <a:t>Feasibility — prototype runs today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</a:p>
          <a:p>
            <a:pPr lvl="1">
              <a:spcAft>
                <a:spcPts val="500"/>
              </a:spcAft>
            </a:pPr>
          </a:p>
          <a:p>
            <a:pPr lvl="1">
              <a:spcAft>
                <a:spcPts val="500"/>
              </a:spcAft>
            </a:pPr>
          </a:p>
          <a:p>
            <a:pPr lvl="1">
              <a:spcAft>
                <a:spcPts val="500"/>
              </a:spcAft>
            </a:pPr>
          </a:p>
          <a:p>
            <a:pPr>
              <a:spcAft>
                <a:spcPts val="400"/>
              </a:spcAft>
            </a:pPr>
            <a:r>
              <a:rPr sz="4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Full journey clickable: dashboard → ranking → lot → offer → buyer accept → payment → receipt.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Deployable per-district over AGMARKNET/eNAM, nothing to replace.</a:t>
            </a:r>
          </a:p>
          <a:p>
            <a:pPr>
              <a:spcAft>
                <a:spcPts val="400"/>
              </a:spcAft>
            </a:pPr>
            <a:r>
              <a:rPr sz="6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47857"/>
                </a:solidFill>
              </a:rPr>
              <a:t>Risks — and where the screen says so</a:t>
            </a:r>
          </a:p>
          <a:p>
            <a:pPr>
              <a:spcAft>
                <a:spcPts val="400"/>
              </a:spcAft>
            </a:pPr>
            <a:r>
              <a:rPr sz="4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1. AGMARKNET API down → stamped snapshot fallback, UI badge says "CACHED"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57534E"/>
                </a:solidFill>
              </a:rPr>
              <a:t>   → visible on every price card as source + age</a:t>
            </a:r>
          </a:p>
          <a:p>
            <a:pPr>
              <a:spcAft>
                <a:spcPts val="400"/>
              </a:spcAft>
            </a:pPr>
            <a:r>
              <a:rPr sz="3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2. Transport/storage costs are assumptions → every assumption tagged on-screen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57534E"/>
                </a:solidFill>
              </a:rPr>
              <a:t>   → "Assumption" label next to each cost item in the calculator</a:t>
            </a:r>
          </a:p>
          <a:p>
            <a:pPr>
              <a:spcAft>
                <a:spcPts val="400"/>
              </a:spcAft>
            </a:pPr>
            <a:r>
              <a:rPr sz="300" b="0">
                <a:solidFill>
                  <a:srgbClr val="1C1917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C1917"/>
                </a:solidFill>
              </a:rPr>
              <a:t>3. Buyers &amp; payments are simulated → 4-tier trust labels + "SIMULATED" banners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57534E"/>
                </a:solidFill>
              </a:rPr>
              <a:t>   → red SIMULATED badge on every payment and offer card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73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300"/>
              <a:t>Kisan360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  <p:pic>
        <p:nvPicPr>
          <p:cNvPr id="17412" name="Picture 17411" descr="shot_tr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234440"/>
            <a:ext cx="4572000" cy="2571750"/>
          </a:xfrm>
          <a:prstGeom prst="rect">
            <a:avLst/>
          </a:prstGeom>
          <a:ln w="12700">
            <a:solidFill>
              <a:srgbClr val="D6D3D1"/>
            </a:solidFill>
          </a:ln>
        </p:spPr>
      </p:pic>
      <p:sp>
        <p:nvSpPr>
          <p:cNvPr id="17413" name="TextBox 17412"/>
          <p:cNvSpPr txBox="1"/>
          <p:nvPr/>
        </p:nvSpPr>
        <p:spPr>
          <a:xfrm>
            <a:off x="7223760" y="3977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B5B5B"/>
                </a:solidFill>
                <a:latin typeface="Arial"/>
              </a:rPr>
              <a:t>Decision tracker (INFORM → SELL) + lots → matched buyers → offers → escrow — one chain.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223760" y="4663440"/>
            <a:ext cx="4572000" cy="141732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7452360" y="4791455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FB3D1"/>
                </a:solidFill>
                <a:latin typeface="Calibri"/>
              </a:rPr>
              <a:t>DECISION TRACKER — INFORM → COMPARE → DECIDE → CONNECT → SELL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452360" y="5102352"/>
            <a:ext cx="1028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FCB94"/>
                </a:solidFill>
                <a:latin typeface="Calibri"/>
              </a:rPr>
              <a:t>13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452360" y="5559552"/>
            <a:ext cx="10287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>
                <a:solidFill>
                  <a:srgbClr val="D6E0F0"/>
                </a:solidFill>
                <a:latin typeface="Calibri"/>
              </a:rPr>
              <a:t>LOTS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481060" y="5102352"/>
            <a:ext cx="1028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FCB94"/>
                </a:solidFill>
                <a:latin typeface="Calibri"/>
              </a:rPr>
              <a:t>10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481060" y="5559552"/>
            <a:ext cx="10287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>
                <a:solidFill>
                  <a:srgbClr val="D6E0F0"/>
                </a:solidFill>
                <a:latin typeface="Calibri"/>
              </a:rPr>
              <a:t>MATCHED
BUYERS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9509760" y="5102352"/>
            <a:ext cx="1028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FCB94"/>
                </a:solidFill>
                <a:latin typeface="Calibri"/>
              </a:rPr>
              <a:t>6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509760" y="5559552"/>
            <a:ext cx="10287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>
                <a:solidFill>
                  <a:srgbClr val="D6E0F0"/>
                </a:solidFill>
                <a:latin typeface="Calibri"/>
              </a:rPr>
              <a:t>ACTIVE
OFFERS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0538460" y="5102352"/>
            <a:ext cx="1028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3FCB94"/>
                </a:solidFill>
                <a:latin typeface="Calibri"/>
              </a:rPr>
              <a:t>3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0538460" y="5559552"/>
            <a:ext cx="10287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>
                <a:solidFill>
                  <a:srgbClr val="D6E0F0"/>
                </a:solidFill>
                <a:latin typeface="Calibri"/>
              </a:rPr>
              <a:t>SIMULATED
PAYMENTS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904" y="-47548"/>
            <a:ext cx="8778240" cy="1143000"/>
          </a:xfrm>
        </p:spPr>
        <p:txBody>
          <a:bodyPr/>
          <a:lstStyle/>
          <a:p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73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300"/>
              <a:t>Kisan360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48640" y="1371600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822960" y="150876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9FB3D1"/>
                </a:solidFill>
                <a:latin typeface="Calibri"/>
              </a:rPr>
              <a:t>ESTIMATED TAKE-HOME · ONION · NAGPUR · 10 q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22960" y="175564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3FCB94"/>
                </a:solidFill>
                <a:latin typeface="Calibri"/>
              </a:rPr>
              <a:t>₹40,432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22960" y="2487168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5C3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79646"/>
                </a:solidFill>
                <a:latin typeface="Calibri"/>
              </a:rPr>
              <a:t>⚠ ESTIMATED — NOT GUARANTEED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852160" y="1371600"/>
            <a:ext cx="5788152" cy="1554480"/>
          </a:xfrm>
          <a:prstGeom prst="roundRect">
            <a:avLst>
              <a:gd name="adj" fmla="val 8000"/>
            </a:avLst>
          </a:prstGeom>
          <a:solidFill>
            <a:srgbClr val="FDEEDA"/>
          </a:solidFill>
          <a:ln w="1270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108192" y="1444752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B45309"/>
                </a:solidFill>
                <a:latin typeface="Calibri"/>
              </a:rPr>
              <a:t>“Estimated decision difference — not an income guarantee.”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108192" y="2212848"/>
            <a:ext cx="53035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7534E"/>
                </a:solidFill>
              </a:rPr>
              <a:t>Every metric labeled: Live, Estimated, Assumption, or Simulated — never a guaranteed benefit.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1159" y="320040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774039" y="33649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774039" y="3364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Calibri"/>
              </a:rPr>
              <a:t>1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74039" y="3803904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Calibri"/>
              </a:rPr>
              <a:t>Farmer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74039" y="4114800"/>
            <a:ext cx="22494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7534E"/>
                </a:solidFill>
              </a:rPr>
              <a:t>Better sale choice per lot, backed by transparent net-realization evidence.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389223" y="320040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3572103" y="33649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3572103" y="3364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Calibri"/>
              </a:rPr>
              <a:t>2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572103" y="3803904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FPO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572103" y="4114800"/>
            <a:ext cx="22494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7534E"/>
                </a:solidFill>
              </a:rPr>
              <a:t>Bulk transport tier + buyer minimums unlocked through 50q+ pooling.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187287" y="320040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6370167" y="33649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370167" y="3364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Calibri"/>
              </a:rPr>
              <a:t>3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370167" y="3803904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Buyer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370167" y="4114800"/>
            <a:ext cx="22494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7534E"/>
                </a:solidFill>
              </a:rPr>
              <a:t>Aggregated, AGMARK-graded lots — lower sourcing risk.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985351" y="320040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9168231" y="33649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9168231" y="3364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Calibri"/>
              </a:rPr>
              <a:t>4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168231" y="3803904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1917"/>
                </a:solidFill>
              </a:rPr>
              <a:t>Government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168231" y="4114800"/>
            <a:ext cx="22494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7534E"/>
                </a:solidFill>
              </a:rPr>
              <a:t>Decision layer built on public AGMARKNET data; new district = data entry.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548640" y="516636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548640" y="5166360"/>
            <a:ext cx="110916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New crop, district, mandi or buyer = data entry, not a rebuild.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904" y="-47548"/>
            <a:ext cx="8778240" cy="1143000"/>
          </a:xfrm>
        </p:spPr>
        <p:txBody>
          <a:bodyPr/>
          <a:lstStyle/>
          <a:p>
            <a:r>
              <a:rPr sz="3200"/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63040"/>
            <a:ext cx="9385300" cy="420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150" b="1">
                <a:solidFill>
                  <a:srgbClr val="1F3864"/>
                </a:solidFill>
                <a:latin typeface="Arial"/>
              </a:rPr>
              <a:t>Data &amp; standards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1000"/>
              </a:spcAft>
            </a:pPr>
            <a:r>
              <a:rPr sz="1650" b="0">
                <a:solidFill>
                  <a:srgbClr val="262626"/>
                </a:solidFill>
                <a:latin typeface="Arial"/>
              </a:rPr>
              <a:t>AGMARKNET via data.gov.in API — live mandi price source behind the engine.</a:t>
            </a:r>
          </a:p>
          <a:p>
            <a:pPr lvl="1">
              <a:spcAft>
                <a:spcPts val="1000"/>
              </a:spcAft>
            </a:pPr>
            <a:r>
              <a:rPr sz="1650" b="0">
                <a:solidFill>
                  <a:srgbClr val="262626"/>
                </a:solidFill>
                <a:latin typeface="Arial"/>
              </a:rPr>
              <a:t>eNAM (National Agriculture Market) — digital trading-channel integration reference.</a:t>
            </a:r>
          </a:p>
          <a:p>
            <a:pPr lvl="1">
              <a:spcAft>
                <a:spcPts val="1000"/>
              </a:spcAft>
            </a:pPr>
            <a:r>
              <a:rPr sz="1650" b="0">
                <a:solidFill>
                  <a:srgbClr val="262626"/>
                </a:solidFill>
                <a:latin typeface="Arial"/>
              </a:rPr>
              <a:t>AGMARK standards, Directorate of Marketing &amp; Inspection (DMI) — grade thresholds in the rule engine (7 crops × 3 grades).</a:t>
            </a:r>
          </a:p>
          <a:p>
            <a:pPr>
              <a:spcAft>
                <a:spcPts val="1000"/>
              </a:spcAft>
            </a:pPr>
            <a:r>
              <a:rPr sz="2150" b="1">
                <a:solidFill>
                  <a:srgbClr val="1F3864"/>
                </a:solidFill>
                <a:latin typeface="Arial"/>
              </a:rPr>
              <a:t>Models &amp; research</a:t>
            </a:r>
          </a:p>
          <a:p>
            <a:pPr lvl="1">
              <a:spcAft>
                <a:spcPts val="1000"/>
              </a:spcAft>
            </a:pPr>
            <a:r>
              <a:rPr sz="1650" b="0">
                <a:solidFill>
                  <a:srgbClr val="262626"/>
                </a:solidFill>
                <a:latin typeface="Arial"/>
              </a:rPr>
              <a:t>MobileNetV2 (Sandler et al., 2018) — backbone of the shipped freshness grader (99.2% fresh/rotten, 6,738-image split) and the 38-class disease model.</a:t>
            </a:r>
          </a:p>
          <a:p>
            <a:pPr lvl="1">
              <a:spcAft>
                <a:spcPts val="1000"/>
              </a:spcAft>
            </a:pPr>
            <a:r>
              <a:rPr sz="1650" b="0">
                <a:solidFill>
                  <a:srgbClr val="262626"/>
                </a:solidFill>
                <a:latin typeface="Arial"/>
              </a:rPr>
              <a:t>Agriculture Census 2015-16 — 86.2% holdings small &amp; marginal (&lt;2 ha): the core beneficiary group.</a:t>
            </a:r>
          </a:p>
          <a:p>
            <a:pPr lvl="1">
              <a:spcAft>
                <a:spcPts val="1000"/>
              </a:spcAft>
            </a:pPr>
            <a:r>
              <a:rPr sz="1650" b="0">
                <a:solidFill>
                  <a:srgbClr val="262626"/>
                </a:solidFill>
                <a:latin typeface="Arial"/>
              </a:rPr>
              <a:t>Groq llama-3.3-70b-versatile — explanation-only LLM with deterministic template fallback.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73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300"/>
              <a:t>Kisan360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isan360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1168" y="6327648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7519</TotalTime>
  <Words>753</Words>
  <Application>Microsoft Office PowerPoint</Application>
  <PresentationFormat>Widescreen</PresentationFormat>
  <Paragraphs>100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TradeGothic</vt:lpstr>
      <vt:lpstr>Wingdings</vt:lpstr>
      <vt:lpstr>Office Theme</vt:lpstr>
      <vt:lpstr>SMART INDIA HACKATHON 2026</vt:lpstr>
      <vt:lpstr>Kisan360: net-realization engine + market linkage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Rian Hussain</cp:lastModifiedBy>
  <cp:revision>149</cp:revision>
  <dcterms:created xsi:type="dcterms:W3CDTF">2013-12-12T18:46:50Z</dcterms:created>
  <dcterms:modified xsi:type="dcterms:W3CDTF">2026-09-12T07:48:47Z</dcterms:modified>
  <cp:category/>
</cp:coreProperties>
</file>