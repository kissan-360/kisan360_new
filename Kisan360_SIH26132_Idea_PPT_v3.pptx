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5760" y="171498"/>
            <a:ext cx="7993656" cy="1279016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Problem Statement ID : </a:t>
            </a:r>
            <a:r>
              <a:rPr sz="1500" dirty="0">
                <a:latin typeface="Arial"/>
              </a:rPr>
              <a:t>26132</a:t>
            </a:r>
            <a:endParaRPr lang="en-US" dirty="0"/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Problem Statement Title : </a:t>
            </a:r>
            <a:r>
              <a:rPr sz="1500" dirty="0">
                <a:latin typeface="Arial"/>
              </a:rPr>
              <a:t>Strengthening market linkages and price discovery for farmers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Theme : </a:t>
            </a:r>
            <a:r>
              <a:rPr sz="1500" dirty="0">
                <a:latin typeface="Arial"/>
              </a:rPr>
              <a:t>Agriculture, </a:t>
            </a:r>
            <a:r>
              <a:rPr sz="1500" dirty="0" err="1">
                <a:latin typeface="Arial"/>
              </a:rPr>
              <a:t>FoodTech</a:t>
            </a:r>
            <a:r>
              <a:rPr sz="1500" dirty="0">
                <a:latin typeface="Arial"/>
              </a:rPr>
              <a:t> &amp; Rural Development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PS Category : </a:t>
            </a:r>
            <a:r>
              <a:rPr sz="1500" dirty="0">
                <a:latin typeface="Arial"/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Team ID : </a:t>
            </a:r>
            <a:r>
              <a:rPr sz="1400" b="1" dirty="0">
                <a:solidFill>
                  <a:srgbClr val="DC2626"/>
                </a:solidFill>
                <a:latin typeface="Arial"/>
              </a:rPr>
              <a:t>TEAM_ID_HERE (update from portal)</a:t>
            </a:r>
          </a:p>
          <a:p>
            <a:pPr>
              <a:spcAft>
                <a:spcPts val="400"/>
              </a:spcAft>
            </a:pPr>
            <a:r>
              <a:rPr sz="1500" b="1" dirty="0">
                <a:latin typeface="Arial"/>
              </a:rPr>
              <a:t>Team Name : </a:t>
            </a:r>
            <a:r>
              <a:rPr sz="1500" dirty="0">
                <a:latin typeface="Arial"/>
              </a:rPr>
              <a:t>Kisan360  |  CMR University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38" name="Table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61413"/>
              </p:ext>
            </p:extLst>
          </p:nvPr>
        </p:nvGraphicFramePr>
        <p:xfrm>
          <a:off x="365760" y="44805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Dept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M/F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Rian Hussain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Nishant Sutariya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Keerthan M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Musalareddy Chaitna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Koneti Praneeth Kumar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Muruga Santhosh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Prof Bhagya (Mentor)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100" b="0" dirty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  <a:endParaRPr sz="1100" b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100" b="0" dirty="0">
                          <a:solidFill>
                            <a:srgbClr val="262626"/>
                          </a:solidFill>
                          <a:latin typeface="Arial"/>
                        </a:rPr>
                        <a:t>F</a:t>
                      </a:r>
                      <a:endParaRPr sz="1100" b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9" name="Picture 38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09728"/>
            <a:ext cx="868680" cy="8686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9184" y="1517904"/>
            <a:ext cx="6309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047857"/>
                </a:solidFill>
                <a:latin typeface="Calibri"/>
              </a:rPr>
              <a:t>“Find where you take home the most.”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THE PROBLEM &amp; 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917"/>
                </a:solidFill>
              </a:rPr>
              <a:t>Farmers lose 20-40% because they can't see the real price.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917"/>
                </a:solidFill>
              </a:rPr>
              <a:t>86% of Indian farms are small &amp; marginal (&lt;2 ha)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57534E"/>
                </a:solidFill>
              </a:rPr>
              <a:t>They sell at the nearest mandi out of compulsion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57534E"/>
                </a:solidFill>
              </a:rPr>
              <a:t>Headline price minus transport/loading/fees = actual take-home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57534E"/>
                </a:solidFill>
              </a:rPr>
              <a:t>The highest price can leave less money in your pocket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WHAT KISAN360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917"/>
                </a:solidFill>
              </a:rPr>
              <a:t>5-step selling journey: prices -&gt; compare -&gt; decide -&gt; trade -&gt; receipt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57534E"/>
                </a:solidFill>
              </a:rPr>
              <a:t>Live AGMARKNET data across 70 Maharashtra mandis, 33 crops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57534E"/>
                </a:solidFill>
              </a:rPr>
              <a:t>Deterministic net-realization calculator: every cost item documented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57534E"/>
                </a:solidFill>
              </a:rPr>
              <a:t>AI crop grading on the farmer's phone (99.2% accuracy, TF.js)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377440" cy="109728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47857"/>
                </a:solidFill>
              </a:rPr>
              <a:t>86%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Small farmers
(&lt;2 ha)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4572000"/>
            <a:ext cx="2377440" cy="109728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47857"/>
                </a:solidFill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Maharashtra
mandis live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4572000"/>
            <a:ext cx="2377440" cy="109728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47857"/>
                </a:solidFill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Crops
tracked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4572000"/>
            <a:ext cx="2377440" cy="109728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47857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Languages
(MR/HI/EN)</a:t>
            </a:r>
          </a:p>
        </p:txBody>
      </p:sp>
      <p:pic>
        <p:nvPicPr>
          <p:cNvPr id="19" name="Picture 18" descr="ppt-lan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457200"/>
            <a:ext cx="4572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917"/>
                </a:solidFill>
              </a:rPr>
              <a:t>The farmer's selling journey — from confusion to cash</a:t>
            </a:r>
          </a:p>
        </p:txBody>
      </p:sp>
      <p:sp>
        <p:nvSpPr>
          <p:cNvPr id="4" name="Oval 3"/>
          <p:cNvSpPr/>
          <p:nvPr/>
        </p:nvSpPr>
        <p:spPr>
          <a:xfrm>
            <a:off x="1005840" y="1371600"/>
            <a:ext cx="457200" cy="4572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1917"/>
                </a:solidFill>
              </a:rPr>
              <a:t>INFORM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240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See live mandi
prices on dashboard</a:t>
            </a:r>
          </a:p>
        </p:txBody>
      </p:sp>
      <p:pic>
        <p:nvPicPr>
          <p:cNvPr id="7" name="Picture 6" descr="ppt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2834640"/>
            <a:ext cx="17373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40280" y="1463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</a:rPr>
              <a:t>-&gt;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1371600"/>
            <a:ext cx="457200" cy="4572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1917"/>
                </a:solidFill>
              </a:rP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240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Net-realization ranks
mandis by take-home</a:t>
            </a:r>
          </a:p>
        </p:txBody>
      </p:sp>
      <p:pic>
        <p:nvPicPr>
          <p:cNvPr id="12" name="Picture 11" descr="ppt-netr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600" y="2834640"/>
            <a:ext cx="1737360" cy="1280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3400" y="1463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</a:rPr>
              <a:t>-&gt;</a:t>
            </a:r>
          </a:p>
        </p:txBody>
      </p:sp>
      <p:sp>
        <p:nvSpPr>
          <p:cNvPr id="14" name="Oval 13"/>
          <p:cNvSpPr/>
          <p:nvPr/>
        </p:nvSpPr>
        <p:spPr>
          <a:xfrm>
            <a:off x="5212080" y="1371600"/>
            <a:ext cx="457200" cy="4572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1917"/>
                </a:solidFill>
              </a:rPr>
              <a:t>DECIDE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40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Sell now / store /
FPO pool</a:t>
            </a:r>
          </a:p>
        </p:txBody>
      </p:sp>
      <p:pic>
        <p:nvPicPr>
          <p:cNvPr id="17" name="Picture 16" descr="ppt-gra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2834640"/>
            <a:ext cx="1737360" cy="12801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46520" y="1463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</a:rPr>
              <a:t>-&gt;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0" y="1371600"/>
            <a:ext cx="457200" cy="4572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1917"/>
                </a:solidFill>
              </a:rPr>
              <a:t>CONNECT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240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Buyer matching with
trust tiers</a:t>
            </a:r>
          </a:p>
        </p:txBody>
      </p:sp>
      <p:pic>
        <p:nvPicPr>
          <p:cNvPr id="22" name="Picture 21" descr="ppt-tra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2834640"/>
            <a:ext cx="1737360" cy="12801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49640" y="1463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</a:rPr>
              <a:t>-&gt;</a:t>
            </a:r>
          </a:p>
        </p:txBody>
      </p:sp>
      <p:sp>
        <p:nvSpPr>
          <p:cNvPr id="24" name="Oval 23"/>
          <p:cNvSpPr/>
          <p:nvPr/>
        </p:nvSpPr>
        <p:spPr>
          <a:xfrm>
            <a:off x="9418320" y="1371600"/>
            <a:ext cx="457200" cy="4572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1917"/>
                </a:solidFill>
              </a:rPr>
              <a:t>EXECUTE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240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Offer -&gt; escrow
-&gt; receipt</a:t>
            </a:r>
          </a:p>
        </p:txBody>
      </p:sp>
      <p:pic>
        <p:nvPicPr>
          <p:cNvPr id="27" name="Picture 26" descr="ppt-tra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3960" y="2834640"/>
            <a:ext cx="1737360" cy="12801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572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Every number carries source + timestamp + assumption tags. Simulated parts are labeled 'DEMO'.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TECHNICAL 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917"/>
                </a:solidFill>
              </a:rPr>
              <a:t>Built for correctness, not just demos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377440" cy="128016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47857"/>
                </a:solidFill>
              </a:rPr>
              <a:t>577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7534E"/>
                </a:solidFill>
              </a:rPr>
              <a:t>Backend tests
0 failures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280160"/>
            <a:ext cx="2377440" cy="128016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8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47857"/>
                </a:solidFill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87451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7534E"/>
                </a:solidFill>
              </a:rPr>
              <a:t>Crops tracked
70 mandis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2377440" cy="128016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47857"/>
                </a:solidFill>
              </a:rPr>
              <a:t>99.2%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87451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7534E"/>
                </a:solidFill>
              </a:rPr>
              <a:t>ML accuracy
23,609 images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280160"/>
            <a:ext cx="2377440" cy="128016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47857"/>
                </a:solidFill>
              </a:rPr>
              <a:t>1,221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87451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7534E"/>
                </a:solidFill>
              </a:rPr>
              <a:t>Keys per language
3 languages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200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1C1917"/>
                </a:solidFill>
              </a:rPr>
              <a:t>React + Vite + Tailwind + TF.js (in-browser grader)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C1917"/>
                </a:solidFill>
              </a:rPr>
              <a:t>Node/Express API — 22 routes, MongoDB Atlas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C1917"/>
                </a:solidFill>
              </a:rPr>
              <a:t>Python FastAPI: net-realization, disease CNN, advisory RAG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C1917"/>
                </a:solidFill>
              </a:rPr>
              <a:t>AGMARKNET live + stamped snapshot; Groq LLM explains only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C1917"/>
                </a:solidFill>
              </a:rPr>
              <a:t>3 services on Render: web (static), API (Node), calc (Python)</a:t>
            </a:r>
          </a:p>
        </p:txBody>
      </p:sp>
      <p:pic>
        <p:nvPicPr>
          <p:cNvPr id="18" name="Picture 17" descr="ppt-gra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926080"/>
            <a:ext cx="4572000" cy="3017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5577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7534E"/>
                </a:solidFill>
              </a:rPr>
              <a:t>AI Grading Model loaded — runs in-browser, zero server upload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LIVE PROOF &amp;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917"/>
                </a:solidFill>
              </a:rPr>
              <a:t>TRL 6 — deployed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4572000" cy="4114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1615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kisan360-web.onrender.com</a:t>
            </a:r>
          </a:p>
        </p:txBody>
      </p:sp>
      <p:pic>
        <p:nvPicPr>
          <p:cNvPr id="6" name="Picture 5" descr="ppt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828800"/>
            <a:ext cx="329184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862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Dashboard — live AGMARKNET pulse</a:t>
            </a:r>
          </a:p>
        </p:txBody>
      </p:sp>
      <p:pic>
        <p:nvPicPr>
          <p:cNvPr id="8" name="Picture 7" descr="ppt-netr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1828800"/>
            <a:ext cx="329184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38862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Net Realization — deterministic ranking</a:t>
            </a:r>
          </a:p>
        </p:txBody>
      </p:sp>
      <p:pic>
        <p:nvPicPr>
          <p:cNvPr id="10" name="Picture 9" descr="ppt-tra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0" y="1828800"/>
            <a:ext cx="3291840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0" y="38862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Trade — lots, buyers, offers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RISKS &amp; MITIGATIONS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C1917"/>
                </a:solidFill>
              </a:rPr>
              <a:t>AGMARKNET down: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663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7534E"/>
                </a:solidFill>
              </a:rPr>
              <a:t>Stamped snapshot fallback, UI says CACHED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663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C1917"/>
                </a:solidFill>
              </a:rPr>
              <a:t>Atlas unreachable: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663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7534E"/>
                </a:solidFill>
              </a:rPr>
              <a:t>Memory DB + reseed on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C1917"/>
                </a:solidFill>
              </a:rPr>
              <a:t>Buyers simulated: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16635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7534E"/>
                </a:solidFill>
              </a:rPr>
              <a:t>4-tier trust labels + SIMULATED banners everywhere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1663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C1917"/>
                </a:solidFill>
              </a:rPr>
              <a:t>Calculator sleeps: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16635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7534E"/>
                </a:solidFill>
              </a:rPr>
              <a:t>90s cold-start timeout, 'waking up' message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IMPACT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917"/>
                </a:solidFill>
              </a:rPr>
              <a:t>Who benefits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BENEFICIARIES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</a:rPr>
              <a:t>Farmer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54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Better sale choice per lot, backed by transparent evidence and net-realization math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</a:rPr>
              <a:t>FPO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Bulk transport tier + buyer minimums unlocked through 50q+ pooling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39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</a:rPr>
              <a:t>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8346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Aggregated, AGMARK-graded lots — lower sourcing risk, consistent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</a:rPr>
              <a:t>Government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Decision layer built on public AGMARKNET data; new district = data entry, not rebuild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</a:rPr>
              <a:t>TRL 7+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5544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917"/>
                </a:solidFill>
              </a:rPr>
              <a:t>Real payments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Razorpay/UPI integration, Aadhaar eKYC, RBI licensing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945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917"/>
                </a:solidFill>
              </a:rPr>
              <a:t>Multi-state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Andhra Pradesh, Karnataka data expansion beyond Maharashtra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834639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917"/>
                </a:solidFill>
              </a:rPr>
              <a:t>Offline PWA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34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Service worker sync, USSD/IVR for feature phones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4747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917"/>
                </a:solidFill>
              </a:rPr>
              <a:t>Per-crop 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Extend grader from 9 to 20+ crops (PS requirement)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10241280" cy="73152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</a:rPr>
              <a:t>"New crop, district, mandi or buyer = data entry, not a rebuild."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7534E"/>
                </a:solidFill>
              </a:rPr>
              <a:t>Team Kisan360 | CMR University | Prof. Bhagya (Mentor)
Rian Hussain, Nishant Sutariya, Keerthan M S, Musalareddy Chaitna, Koneti Praneeth Kumar, Muruga Santhosh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7524</TotalTime>
  <Words>862</Words>
  <Application>Microsoft Office PowerPoint</Application>
  <PresentationFormat>Widescreen</PresentationFormat>
  <Paragraphs>130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TradeGothic</vt:lpstr>
      <vt:lpstr>Wingdings</vt:lpstr>
      <vt:lpstr>Office Theme</vt:lpstr>
      <vt:lpstr>SMART INDIA HACKATHON 2026</vt:lpstr>
      <vt:lpstr>Kisan360: net-realization engine + market linkage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Rian Hussain</cp:lastModifiedBy>
  <cp:revision>150</cp:revision>
  <dcterms:created xsi:type="dcterms:W3CDTF">2013-12-12T18:46:50Z</dcterms:created>
  <dcterms:modified xsi:type="dcterms:W3CDTF">2026-09-13T10:31:18Z</dcterms:modified>
  <cp:category/>
</cp:coreProperties>
</file>